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85" r:id="rId6"/>
    <p:sldId id="261" r:id="rId7"/>
    <p:sldId id="286" r:id="rId8"/>
    <p:sldId id="265" r:id="rId9"/>
    <p:sldId id="260" r:id="rId10"/>
    <p:sldId id="266" r:id="rId11"/>
    <p:sldId id="267" r:id="rId12"/>
    <p:sldId id="262" r:id="rId13"/>
    <p:sldId id="274" r:id="rId14"/>
    <p:sldId id="264" r:id="rId15"/>
    <p:sldId id="263" r:id="rId16"/>
    <p:sldId id="268" r:id="rId17"/>
    <p:sldId id="270" r:id="rId18"/>
    <p:sldId id="271" r:id="rId19"/>
    <p:sldId id="272" r:id="rId20"/>
    <p:sldId id="275" r:id="rId21"/>
    <p:sldId id="276" r:id="rId22"/>
    <p:sldId id="277" r:id="rId23"/>
    <p:sldId id="278" r:id="rId24"/>
    <p:sldId id="273" r:id="rId25"/>
    <p:sldId id="279" r:id="rId26"/>
    <p:sldId id="280" r:id="rId27"/>
    <p:sldId id="283" r:id="rId28"/>
    <p:sldId id="282" r:id="rId29"/>
    <p:sldId id="281" r:id="rId30"/>
    <p:sldId id="284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05" autoAdjust="0"/>
    <p:restoredTop sz="94660"/>
  </p:normalViewPr>
  <p:slideViewPr>
    <p:cSldViewPr snapToGrid="0">
      <p:cViewPr>
        <p:scale>
          <a:sx n="67" d="100"/>
          <a:sy n="67" d="100"/>
        </p:scale>
        <p:origin x="557" y="2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3F074E4D-C710-4EC0-9513-1B22499694C5}" type="datetimeFigureOut">
              <a:rPr lang="he-IL" smtClean="0"/>
              <a:t>י"ח/טבת/תשפ"ו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9492C35D-958C-4574-99E0-C8193FACD07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55129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2C35D-958C-4574-99E0-C8193FACD072}" type="slidenum">
              <a:rPr lang="he-IL" smtClean="0"/>
              <a:t>15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58900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B8980-048E-4A2D-A2F7-DBA86BBC2646}" type="datetimeFigureOut">
              <a:rPr lang="he-IL" smtClean="0"/>
              <a:t>י"ח/טבת/תשפ"ו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D2672-4102-441E-A8F1-3F428DD2ECD8}" type="slidenum">
              <a:rPr lang="he-IL" smtClean="0"/>
              <a:t>‹#›</a:t>
            </a:fld>
            <a:endParaRPr lang="he-IL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4052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B8980-048E-4A2D-A2F7-DBA86BBC2646}" type="datetimeFigureOut">
              <a:rPr lang="he-IL" smtClean="0"/>
              <a:t>י"ח/טבת/תשפ"ו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D2672-4102-441E-A8F1-3F428DD2ECD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67728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B8980-048E-4A2D-A2F7-DBA86BBC2646}" type="datetimeFigureOut">
              <a:rPr lang="he-IL" smtClean="0"/>
              <a:t>י"ח/טבת/תשפ"ו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D2672-4102-441E-A8F1-3F428DD2ECD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0884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B8980-048E-4A2D-A2F7-DBA86BBC2646}" type="datetimeFigureOut">
              <a:rPr lang="he-IL" smtClean="0"/>
              <a:t>י"ח/טבת/תשפ"ו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D2672-4102-441E-A8F1-3F428DD2ECD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9871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B8980-048E-4A2D-A2F7-DBA86BBC2646}" type="datetimeFigureOut">
              <a:rPr lang="he-IL" smtClean="0"/>
              <a:t>י"ח/טבת/תשפ"ו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D2672-4102-441E-A8F1-3F428DD2ECD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17338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B8980-048E-4A2D-A2F7-DBA86BBC2646}" type="datetimeFigureOut">
              <a:rPr lang="he-IL" smtClean="0"/>
              <a:t>י"ח/טבת/תשפ"ו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D2672-4102-441E-A8F1-3F428DD2ECD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34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B8980-048E-4A2D-A2F7-DBA86BBC2646}" type="datetimeFigureOut">
              <a:rPr lang="he-IL" smtClean="0"/>
              <a:t>י"ח/טבת/תשפ"ו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D2672-4102-441E-A8F1-3F428DD2ECD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68535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B8980-048E-4A2D-A2F7-DBA86BBC2646}" type="datetimeFigureOut">
              <a:rPr lang="he-IL" smtClean="0"/>
              <a:t>י"ח/טבת/תשפ"ו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D2672-4102-441E-A8F1-3F428DD2ECD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64000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B8980-048E-4A2D-A2F7-DBA86BBC2646}" type="datetimeFigureOut">
              <a:rPr lang="he-IL" smtClean="0"/>
              <a:t>י"ח/טבת/תשפ"ו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D2672-4102-441E-A8F1-3F428DD2ECD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72184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B8980-048E-4A2D-A2F7-DBA86BBC2646}" type="datetimeFigureOut">
              <a:rPr lang="he-IL" smtClean="0"/>
              <a:t>י"ח/טבת/תשפ"ו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D2672-4102-441E-A8F1-3F428DD2ECD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819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B8980-048E-4A2D-A2F7-DBA86BBC2646}" type="datetimeFigureOut">
              <a:rPr lang="he-IL" smtClean="0"/>
              <a:t>י"ח/טבת/תשפ"ו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D2672-4102-441E-A8F1-3F428DD2ECD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408880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B8980-048E-4A2D-A2F7-DBA86BBC2646}" type="datetimeFigureOut">
              <a:rPr lang="he-IL" smtClean="0"/>
              <a:t>י"ח/טבת/תשפ"ו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D2672-4102-441E-A8F1-3F428DD2ECD8}" type="slidenum">
              <a:rPr lang="he-IL" smtClean="0"/>
              <a:t>‹#›</a:t>
            </a:fld>
            <a:endParaRPr lang="he-IL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24594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B8980-048E-4A2D-A2F7-DBA86BBC2646}" type="datetimeFigureOut">
              <a:rPr lang="he-IL" smtClean="0"/>
              <a:t>י"ח/טבת/תשפ"ו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D2672-4102-441E-A8F1-3F428DD2ECD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579796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 עם ציטו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B8980-048E-4A2D-A2F7-DBA86BBC2646}" type="datetimeFigureOut">
              <a:rPr lang="he-IL" smtClean="0"/>
              <a:t>י"ח/טבת/תשפ"ו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D2672-4102-441E-A8F1-3F428DD2ECD8}" type="slidenum">
              <a:rPr lang="he-IL" smtClean="0"/>
              <a:t>‹#›</a:t>
            </a:fld>
            <a:endParaRPr lang="he-IL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789095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נכון או לא נכו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B8980-048E-4A2D-A2F7-DBA86BBC2646}" type="datetimeFigureOut">
              <a:rPr lang="he-IL" smtClean="0"/>
              <a:t>י"ח/טבת/תשפ"ו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D2672-4102-441E-A8F1-3F428DD2ECD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899098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B8980-048E-4A2D-A2F7-DBA86BBC2646}" type="datetimeFigureOut">
              <a:rPr lang="he-IL" smtClean="0"/>
              <a:t>י"ח/טבת/תשפ"ו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D2672-4102-441E-A8F1-3F428DD2ECD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888019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B8980-048E-4A2D-A2F7-DBA86BBC2646}" type="datetimeFigureOut">
              <a:rPr lang="he-IL" smtClean="0"/>
              <a:t>י"ח/טבת/תשפ"ו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D2672-4102-441E-A8F1-3F428DD2ECD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32509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A60B8980-048E-4A2D-A2F7-DBA86BBC2646}" type="datetimeFigureOut">
              <a:rPr lang="he-IL" smtClean="0"/>
              <a:t>י"ח/טבת/תשפ"ו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727D2672-4102-441E-A8F1-3F428DD2ECD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683296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1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2857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לבן 3">
            <a:extLst>
              <a:ext uri="{FF2B5EF4-FFF2-40B4-BE49-F238E27FC236}">
                <a16:creationId xmlns:a16="http://schemas.microsoft.com/office/drawing/2014/main" id="{E85FE6F3-5724-B438-63B8-7B03437E4C5C}"/>
              </a:ext>
            </a:extLst>
          </p:cNvPr>
          <p:cNvSpPr/>
          <p:nvPr/>
        </p:nvSpPr>
        <p:spPr>
          <a:xfrm>
            <a:off x="1960049" y="2138236"/>
            <a:ext cx="6061275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72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אני והסיפור שלנו</a:t>
            </a: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E3367FB4-0281-6C01-2021-5AB667A1C851}"/>
              </a:ext>
            </a:extLst>
          </p:cNvPr>
          <p:cNvSpPr/>
          <p:nvPr/>
        </p:nvSpPr>
        <p:spPr>
          <a:xfrm>
            <a:off x="907357" y="3698798"/>
            <a:ext cx="240482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36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הכנה למנחה</a:t>
            </a:r>
          </a:p>
        </p:txBody>
      </p:sp>
      <p:pic>
        <p:nvPicPr>
          <p:cNvPr id="7" name="תמונה 6" descr="תמונה שמכילה טקסט, גרפיקה, עיצוב גרפי, גופ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8B21FE28-34F8-E86E-C06B-53559F0294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2136" y="4825473"/>
            <a:ext cx="1914148" cy="171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54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62559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239DB-B4A9-171E-0DDD-F6C6C81C1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לבן 3">
            <a:extLst>
              <a:ext uri="{FF2B5EF4-FFF2-40B4-BE49-F238E27FC236}">
                <a16:creationId xmlns:a16="http://schemas.microsoft.com/office/drawing/2014/main" id="{E49C2A17-9AB9-DEEF-BC42-59902BA8D728}"/>
              </a:ext>
            </a:extLst>
          </p:cNvPr>
          <p:cNvSpPr/>
          <p:nvPr/>
        </p:nvSpPr>
        <p:spPr>
          <a:xfrm>
            <a:off x="4062116" y="5136105"/>
            <a:ext cx="4067766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עמוד פתיחה</a:t>
            </a: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2C400051-F195-CEAA-64A2-E1181DFC4ECE}"/>
              </a:ext>
            </a:extLst>
          </p:cNvPr>
          <p:cNvSpPr/>
          <p:nvPr/>
        </p:nvSpPr>
        <p:spPr>
          <a:xfrm>
            <a:off x="2847103" y="5940117"/>
            <a:ext cx="6497792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2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נפתח </a:t>
            </a:r>
            <a:r>
              <a:rPr lang="he-IL" sz="2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לאחר לחיצה באחד הדפדפנים</a:t>
            </a:r>
          </a:p>
        </p:txBody>
      </p:sp>
      <p:pic>
        <p:nvPicPr>
          <p:cNvPr id="8" name="תמונה 7" descr="תמונה שמכילה טקסט, צילום מסך, תוכנה, מחש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D6749D22-5122-9243-B7D5-3B617F978D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9" t="14359" r="1181" b="5348"/>
          <a:stretch>
            <a:fillRect/>
          </a:stretch>
        </p:blipFill>
        <p:spPr>
          <a:xfrm>
            <a:off x="1219304" y="456218"/>
            <a:ext cx="9753392" cy="44877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44729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568AC-F830-86E5-D9FF-2F665810C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לבן 3">
            <a:extLst>
              <a:ext uri="{FF2B5EF4-FFF2-40B4-BE49-F238E27FC236}">
                <a16:creationId xmlns:a16="http://schemas.microsoft.com/office/drawing/2014/main" id="{B24F8EED-97BF-1E5F-AAC9-039A3A3DFB2A}"/>
              </a:ext>
            </a:extLst>
          </p:cNvPr>
          <p:cNvSpPr/>
          <p:nvPr/>
        </p:nvSpPr>
        <p:spPr>
          <a:xfrm>
            <a:off x="4453526" y="3727509"/>
            <a:ext cx="3185326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סיום משחק</a:t>
            </a: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6FF1A667-B2F5-ED14-1D85-02289D0827DA}"/>
              </a:ext>
            </a:extLst>
          </p:cNvPr>
          <p:cNvSpPr/>
          <p:nvPr/>
        </p:nvSpPr>
        <p:spPr>
          <a:xfrm>
            <a:off x="4607248" y="4474917"/>
            <a:ext cx="2877881" cy="9541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2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סיום משחק ומעבר ללוח ניקוד סופי</a:t>
            </a:r>
            <a:endParaRPr lang="he-IL" sz="2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braham" panose="00000500000000000000" pitchFamily="2" charset="-79"/>
              <a:cs typeface="Abraham" panose="00000500000000000000" pitchFamily="2" charset="-79"/>
            </a:endParaRP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A0085936-5EAC-3044-81D4-607A467C9A50}"/>
              </a:ext>
            </a:extLst>
          </p:cNvPr>
          <p:cNvSpPr/>
          <p:nvPr/>
        </p:nvSpPr>
        <p:spPr>
          <a:xfrm>
            <a:off x="7915541" y="3729609"/>
            <a:ext cx="3185326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בטל פעולה</a:t>
            </a:r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33BE682B-697F-701A-8A42-3C13CAE58EF9}"/>
              </a:ext>
            </a:extLst>
          </p:cNvPr>
          <p:cNvSpPr/>
          <p:nvPr/>
        </p:nvSpPr>
        <p:spPr>
          <a:xfrm>
            <a:off x="7920030" y="4474917"/>
            <a:ext cx="3185326" cy="9541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2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חזרה אחורה לפעולה האחרונה, והסרת ניקוד</a:t>
            </a:r>
            <a:endParaRPr lang="he-IL" sz="2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braham" panose="00000500000000000000" pitchFamily="2" charset="-79"/>
              <a:cs typeface="Abraham" panose="00000500000000000000" pitchFamily="2" charset="-79"/>
            </a:endParaRPr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E78784CE-0003-F877-2C35-EC3759DF65B9}"/>
              </a:ext>
            </a:extLst>
          </p:cNvPr>
          <p:cNvSpPr/>
          <p:nvPr/>
        </p:nvSpPr>
        <p:spPr>
          <a:xfrm>
            <a:off x="4614806" y="5429024"/>
            <a:ext cx="2877881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braham" panose="00000500000000000000" pitchFamily="2" charset="-79"/>
              </a:rPr>
              <a:t>( ניתן לבצע פעולה זו גם בלחיצה על מקש </a:t>
            </a:r>
            <a: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</a:t>
            </a:r>
            <a:r>
              <a:rPr lang="he-IL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)</a:t>
            </a:r>
            <a:endParaRPr lang="he-IL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DLaM Display" panose="02010000000000000000" pitchFamily="2" charset="0"/>
              <a:ea typeface="ADLaM Display" panose="02010000000000000000" pitchFamily="2" charset="0"/>
              <a:cs typeface="Abraham" panose="00000500000000000000" pitchFamily="2" charset="-79"/>
            </a:endParaRPr>
          </a:p>
        </p:txBody>
      </p:sp>
      <p:sp>
        <p:nvSpPr>
          <p:cNvPr id="10" name="מלבן 9">
            <a:extLst>
              <a:ext uri="{FF2B5EF4-FFF2-40B4-BE49-F238E27FC236}">
                <a16:creationId xmlns:a16="http://schemas.microsoft.com/office/drawing/2014/main" id="{49E76234-A706-C37B-75CD-CDDFF2026E36}"/>
              </a:ext>
            </a:extLst>
          </p:cNvPr>
          <p:cNvSpPr/>
          <p:nvPr/>
        </p:nvSpPr>
        <p:spPr>
          <a:xfrm>
            <a:off x="8069263" y="5429024"/>
            <a:ext cx="2877881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braham" panose="00000500000000000000" pitchFamily="2" charset="-79"/>
              </a:rPr>
              <a:t>( ניתן לבצע פעולה זו גם בלחיצה על מקש </a:t>
            </a:r>
            <a: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</a:t>
            </a:r>
            <a:r>
              <a:rPr lang="he-IL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)</a:t>
            </a:r>
            <a:endParaRPr lang="he-IL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DLaM Display" panose="02010000000000000000" pitchFamily="2" charset="0"/>
              <a:ea typeface="ADLaM Display" panose="02010000000000000000" pitchFamily="2" charset="0"/>
              <a:cs typeface="Abraham" panose="00000500000000000000" pitchFamily="2" charset="-79"/>
            </a:endParaRPr>
          </a:p>
        </p:txBody>
      </p:sp>
      <p:sp>
        <p:nvSpPr>
          <p:cNvPr id="11" name="מלבן 10">
            <a:extLst>
              <a:ext uri="{FF2B5EF4-FFF2-40B4-BE49-F238E27FC236}">
                <a16:creationId xmlns:a16="http://schemas.microsoft.com/office/drawing/2014/main" id="{1A7707F7-1639-0BE8-3783-B1C5B88B36EC}"/>
              </a:ext>
            </a:extLst>
          </p:cNvPr>
          <p:cNvSpPr/>
          <p:nvPr/>
        </p:nvSpPr>
        <p:spPr>
          <a:xfrm>
            <a:off x="854110" y="3727509"/>
            <a:ext cx="3185326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איפוס משחק</a:t>
            </a:r>
          </a:p>
        </p:txBody>
      </p:sp>
      <p:sp>
        <p:nvSpPr>
          <p:cNvPr id="12" name="מלבן 11">
            <a:extLst>
              <a:ext uri="{FF2B5EF4-FFF2-40B4-BE49-F238E27FC236}">
                <a16:creationId xmlns:a16="http://schemas.microsoft.com/office/drawing/2014/main" id="{82512051-9803-5346-707B-87EAA8828D4A}"/>
              </a:ext>
            </a:extLst>
          </p:cNvPr>
          <p:cNvSpPr/>
          <p:nvPr/>
        </p:nvSpPr>
        <p:spPr>
          <a:xfrm>
            <a:off x="854110" y="4474916"/>
            <a:ext cx="3185327" cy="9541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2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איפוס משחק לגמרי וחזרה למסך הפתיחה</a:t>
            </a:r>
            <a:endParaRPr lang="he-IL" sz="2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braham" panose="00000500000000000000" pitchFamily="2" charset="-79"/>
              <a:cs typeface="Abraham" panose="00000500000000000000" pitchFamily="2" charset="-79"/>
            </a:endParaRPr>
          </a:p>
        </p:txBody>
      </p:sp>
      <p:sp>
        <p:nvSpPr>
          <p:cNvPr id="13" name="מלבן 12">
            <a:extLst>
              <a:ext uri="{FF2B5EF4-FFF2-40B4-BE49-F238E27FC236}">
                <a16:creationId xmlns:a16="http://schemas.microsoft.com/office/drawing/2014/main" id="{F1C984F8-D9F5-EB3F-82DB-C2CA9D2C238B}"/>
              </a:ext>
            </a:extLst>
          </p:cNvPr>
          <p:cNvSpPr/>
          <p:nvPr/>
        </p:nvSpPr>
        <p:spPr>
          <a:xfrm>
            <a:off x="1007832" y="5429024"/>
            <a:ext cx="2877881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ea typeface="ADLaM Display" panose="02010000000000000000" pitchFamily="2" charset="0"/>
                <a:cs typeface="Abraham" panose="00000500000000000000" pitchFamily="2" charset="-79"/>
              </a:rPr>
              <a:t>שימו לב! לא ניתן לבטל פעולה זו. השתמשו בה רק כשאתם רוצים להתחיל משחק חדש</a:t>
            </a:r>
            <a:endParaRPr lang="he-IL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braham" panose="00000500000000000000" pitchFamily="2" charset="-79"/>
              <a:ea typeface="ADLaM Display" panose="02010000000000000000" pitchFamily="2" charset="0"/>
              <a:cs typeface="Abraham" panose="00000500000000000000" pitchFamily="2" charset="-79"/>
            </a:endParaRPr>
          </a:p>
        </p:txBody>
      </p:sp>
      <p:pic>
        <p:nvPicPr>
          <p:cNvPr id="15" name="תמונה 14" descr="תמונה שמכילה טקסט, צילום מסך, תוכנה, מערכת הפעל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C9FCF618-ACE9-82D4-D9A9-BE3CA1AAD8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90" t="16557" r="17912" b="57949"/>
          <a:stretch>
            <a:fillRect/>
          </a:stretch>
        </p:blipFill>
        <p:spPr>
          <a:xfrm>
            <a:off x="648282" y="1560917"/>
            <a:ext cx="10895435" cy="19605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מלבן 15">
            <a:extLst>
              <a:ext uri="{FF2B5EF4-FFF2-40B4-BE49-F238E27FC236}">
                <a16:creationId xmlns:a16="http://schemas.microsoft.com/office/drawing/2014/main" id="{4F7369C5-1275-D4FE-E13E-6E2EADC9E8B2}"/>
              </a:ext>
            </a:extLst>
          </p:cNvPr>
          <p:cNvSpPr/>
          <p:nvPr/>
        </p:nvSpPr>
        <p:spPr>
          <a:xfrm>
            <a:off x="4012305" y="95305"/>
            <a:ext cx="4067766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2">
                    <a:lumMod val="75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כפתורי פעולות</a:t>
            </a:r>
          </a:p>
        </p:txBody>
      </p:sp>
      <p:sp>
        <p:nvSpPr>
          <p:cNvPr id="17" name="מלבן 16">
            <a:extLst>
              <a:ext uri="{FF2B5EF4-FFF2-40B4-BE49-F238E27FC236}">
                <a16:creationId xmlns:a16="http://schemas.microsoft.com/office/drawing/2014/main" id="{B952CD71-7BF6-CBDE-A3DF-937CAF4F7B1A}"/>
              </a:ext>
            </a:extLst>
          </p:cNvPr>
          <p:cNvSpPr/>
          <p:nvPr/>
        </p:nvSpPr>
        <p:spPr>
          <a:xfrm>
            <a:off x="3579764" y="987595"/>
            <a:ext cx="4932847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ea typeface="ADLaM Display" panose="02010000000000000000" pitchFamily="2" charset="0"/>
                <a:cs typeface="Abraham" panose="00000500000000000000" pitchFamily="2" charset="-79"/>
              </a:rPr>
              <a:t>נמצאים לכל אורך המשחק למעלה בצד שמאל</a:t>
            </a:r>
          </a:p>
        </p:txBody>
      </p:sp>
    </p:spTree>
    <p:extLst>
      <p:ext uri="{BB962C8B-B14F-4D97-AF65-F5344CB8AC3E}">
        <p14:creationId xmlns:p14="http://schemas.microsoft.com/office/powerpoint/2010/main" val="716014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D0D69-A915-5CD2-A39C-0708B55BA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לבן 3">
            <a:extLst>
              <a:ext uri="{FF2B5EF4-FFF2-40B4-BE49-F238E27FC236}">
                <a16:creationId xmlns:a16="http://schemas.microsoft.com/office/drawing/2014/main" id="{223321A4-BD5A-2781-D78B-26B61EC55B81}"/>
              </a:ext>
            </a:extLst>
          </p:cNvPr>
          <p:cNvSpPr/>
          <p:nvPr/>
        </p:nvSpPr>
        <p:spPr>
          <a:xfrm>
            <a:off x="849733" y="5632341"/>
            <a:ext cx="10492529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נלחץ על "מתחילים" כדי להגיע לדף ההוראות</a:t>
            </a:r>
          </a:p>
        </p:txBody>
      </p:sp>
      <p:pic>
        <p:nvPicPr>
          <p:cNvPr id="8" name="תמונה 7" descr="תמונה שמכילה טקסט, צילום מסך, תוכנה, מחש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68E93A2D-0629-2CE0-92BF-4865B6435E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9" t="14359" r="1181" b="5348"/>
          <a:stretch>
            <a:fillRect/>
          </a:stretch>
        </p:blipFill>
        <p:spPr>
          <a:xfrm>
            <a:off x="705058" y="456218"/>
            <a:ext cx="10781881" cy="49609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מעגל: חלול 1">
            <a:extLst>
              <a:ext uri="{FF2B5EF4-FFF2-40B4-BE49-F238E27FC236}">
                <a16:creationId xmlns:a16="http://schemas.microsoft.com/office/drawing/2014/main" id="{22ABA622-6FF5-F635-C7BD-2D4A8178EBDA}"/>
              </a:ext>
            </a:extLst>
          </p:cNvPr>
          <p:cNvSpPr/>
          <p:nvPr/>
        </p:nvSpPr>
        <p:spPr>
          <a:xfrm>
            <a:off x="5610997" y="2727136"/>
            <a:ext cx="970005" cy="339810"/>
          </a:xfrm>
          <a:prstGeom prst="donut">
            <a:avLst>
              <a:gd name="adj" fmla="val 3873"/>
            </a:avLst>
          </a:prstGeom>
          <a:solidFill>
            <a:schemeClr val="accent3">
              <a:lumMod val="75000"/>
              <a:lumOff val="2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  <p:cxnSp>
        <p:nvCxnSpPr>
          <p:cNvPr id="3" name="מחבר: מעוקל 2">
            <a:extLst>
              <a:ext uri="{FF2B5EF4-FFF2-40B4-BE49-F238E27FC236}">
                <a16:creationId xmlns:a16="http://schemas.microsoft.com/office/drawing/2014/main" id="{029DA3E0-D025-02A2-56BD-4CD3F48880F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125575" y="3758892"/>
            <a:ext cx="2491324" cy="1255575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>
                <a:alpha val="6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9736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90FA1-14D8-515B-6968-60A5212E8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 descr="תמונה שמכילה טקסט, צילום מסך, תוכנה, סמל מחש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690DBBC4-2EC1-EFF3-77DC-AF71A7A241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667" b="5000"/>
          <a:stretch>
            <a:fillRect/>
          </a:stretch>
        </p:blipFill>
        <p:spPr>
          <a:xfrm>
            <a:off x="1353261" y="354330"/>
            <a:ext cx="9485477" cy="42862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404339A0-4F57-02E2-23EA-7762740D0DAD}"/>
              </a:ext>
            </a:extLst>
          </p:cNvPr>
          <p:cNvSpPr txBox="1"/>
          <p:nvPr/>
        </p:nvSpPr>
        <p:spPr>
          <a:xfrm>
            <a:off x="3041070" y="4640580"/>
            <a:ext cx="610985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e-IL" sz="48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מסך הוראות</a:t>
            </a: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32F6FA68-2E4F-8AE6-8B98-676D91B43BB1}"/>
              </a:ext>
            </a:extLst>
          </p:cNvPr>
          <p:cNvSpPr/>
          <p:nvPr/>
        </p:nvSpPr>
        <p:spPr>
          <a:xfrm>
            <a:off x="255491" y="5471577"/>
            <a:ext cx="11681011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2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במסך זה מופיעות בקצרה הוראות המשחק עבור התלמידים.</a:t>
            </a:r>
            <a:br>
              <a:rPr lang="en-US" sz="2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</a:br>
            <a:r>
              <a:rPr lang="he-IL" sz="2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על כל הדברים נעבור פה בהמשך המצגת, אבל מומלץ גם לכם המדריכים לעבור על ההוראות כדי לראו</a:t>
            </a:r>
            <a:r>
              <a:rPr lang="he-IL" sz="2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ת שאתם מבינים </a:t>
            </a:r>
            <a:r>
              <a:rPr lang="he-IL" sz="24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הכל</a:t>
            </a:r>
            <a:r>
              <a:rPr lang="he-IL" sz="2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 ויודעים איך לענות לתלמידים על שאלות בהתאם</a:t>
            </a:r>
            <a:endParaRPr lang="he-IL" sz="2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braham" panose="00000500000000000000" pitchFamily="2" charset="-79"/>
              <a:cs typeface="Abraham" panose="000005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940658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96038-48D3-76ED-A4C7-D11F15416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FEC63B67-CE09-D8EB-A3BE-A0465D6FBD36}"/>
              </a:ext>
            </a:extLst>
          </p:cNvPr>
          <p:cNvSpPr txBox="1"/>
          <p:nvPr/>
        </p:nvSpPr>
        <p:spPr>
          <a:xfrm>
            <a:off x="878201" y="4949190"/>
            <a:ext cx="1043559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e-IL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כשסיימתם לעבור על ההוראות לחצו על הכפתור בצד שמאל למטה ותעברו למסך בחירת הקבוצות</a:t>
            </a:r>
          </a:p>
        </p:txBody>
      </p:sp>
      <p:pic>
        <p:nvPicPr>
          <p:cNvPr id="3" name="תמונה 2" descr="תמונה שמכילה טקסט, צילום מסך, תוכנה, סמל מחש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F8D57E8E-FA0C-4983-93DE-4B9F79FADA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85" t="14667" r="1881" b="5000"/>
          <a:stretch>
            <a:fillRect/>
          </a:stretch>
        </p:blipFill>
        <p:spPr>
          <a:xfrm>
            <a:off x="1461131" y="296873"/>
            <a:ext cx="9269730" cy="43437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מעגל: חלול 6">
            <a:extLst>
              <a:ext uri="{FF2B5EF4-FFF2-40B4-BE49-F238E27FC236}">
                <a16:creationId xmlns:a16="http://schemas.microsoft.com/office/drawing/2014/main" id="{5C5835D6-C4E9-45FC-BDD9-B047672D6E18}"/>
              </a:ext>
            </a:extLst>
          </p:cNvPr>
          <p:cNvSpPr/>
          <p:nvPr/>
        </p:nvSpPr>
        <p:spPr>
          <a:xfrm>
            <a:off x="3370717" y="4178746"/>
            <a:ext cx="970005" cy="339810"/>
          </a:xfrm>
          <a:prstGeom prst="donut">
            <a:avLst>
              <a:gd name="adj" fmla="val 3873"/>
            </a:avLst>
          </a:prstGeom>
          <a:solidFill>
            <a:schemeClr val="accent3">
              <a:lumMod val="75000"/>
              <a:lumOff val="2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27893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0CEC7-A216-76A8-E5E3-2BC1918A9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 descr="תמונה שמכילה טקסט, צילום מסך, תוכנה, סמל מחש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8BC48A24-EEAA-80DB-45CA-C9DC79DCCA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939" r="1023" b="6061"/>
          <a:stretch>
            <a:fillRect/>
          </a:stretch>
        </p:blipFill>
        <p:spPr>
          <a:xfrm>
            <a:off x="994063" y="277092"/>
            <a:ext cx="10203873" cy="463918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BDC2B156-FF33-FDEF-1CC4-AF7AA0846B0C}"/>
              </a:ext>
            </a:extLst>
          </p:cNvPr>
          <p:cNvSpPr txBox="1"/>
          <p:nvPr/>
        </p:nvSpPr>
        <p:spPr>
          <a:xfrm>
            <a:off x="3041071" y="4916281"/>
            <a:ext cx="61098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e-IL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מסך הגדרת קבוצות</a:t>
            </a: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361270FA-FF1B-1D90-6412-93C70B4C22E3}"/>
              </a:ext>
            </a:extLst>
          </p:cNvPr>
          <p:cNvSpPr/>
          <p:nvPr/>
        </p:nvSpPr>
        <p:spPr>
          <a:xfrm>
            <a:off x="255492" y="5624167"/>
            <a:ext cx="11681011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2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במסך זה תו</a:t>
            </a:r>
            <a:r>
              <a:rPr lang="he-IL" sz="20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כלו להחליט לכמה קבוצות תחלקו את הכיתה, ואם תרצו - אפשר לתת שם לכל קבוצה.</a:t>
            </a:r>
            <a:br>
              <a:rPr lang="en-US" sz="20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</a:br>
            <a:r>
              <a:rPr lang="he-IL" sz="20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אם לא תבחרו שמות, השמות יקבעו לפי ברירת המחדל (קבוצה 1, קבוצה 2, קבוצה 3)</a:t>
            </a:r>
            <a:br>
              <a:rPr lang="en-US" sz="20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</a:br>
            <a:r>
              <a:rPr lang="he-IL" sz="20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לאחר שבחרתם לחצו על "התחל" והמשחק יתחיל:)</a:t>
            </a:r>
            <a:endParaRPr lang="he-IL" sz="2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braham" panose="00000500000000000000" pitchFamily="2" charset="-79"/>
              <a:cs typeface="Abraham" panose="000005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201874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D1261-E031-949D-2C5C-525703280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מלבן 17">
            <a:extLst>
              <a:ext uri="{FF2B5EF4-FFF2-40B4-BE49-F238E27FC236}">
                <a16:creationId xmlns:a16="http://schemas.microsoft.com/office/drawing/2014/main" id="{5D6B4E77-709F-CFCB-9D98-75971B4D4D58}"/>
              </a:ext>
            </a:extLst>
          </p:cNvPr>
          <p:cNvSpPr/>
          <p:nvPr/>
        </p:nvSpPr>
        <p:spPr>
          <a:xfrm>
            <a:off x="1365428" y="4961264"/>
            <a:ext cx="9461141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48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מסך הלוח – לב המשחק</a:t>
            </a:r>
          </a:p>
        </p:txBody>
      </p:sp>
      <p:sp>
        <p:nvSpPr>
          <p:cNvPr id="19" name="מלבן 18">
            <a:extLst>
              <a:ext uri="{FF2B5EF4-FFF2-40B4-BE49-F238E27FC236}">
                <a16:creationId xmlns:a16="http://schemas.microsoft.com/office/drawing/2014/main" id="{5053278B-842A-D045-8144-37B2EA9737EA}"/>
              </a:ext>
            </a:extLst>
          </p:cNvPr>
          <p:cNvSpPr/>
          <p:nvPr/>
        </p:nvSpPr>
        <p:spPr>
          <a:xfrm>
            <a:off x="255492" y="5810597"/>
            <a:ext cx="11681011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2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כאן בעצם </a:t>
            </a:r>
            <a:r>
              <a:rPr lang="he-IL" sz="28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הכל</a:t>
            </a:r>
            <a:r>
              <a:rPr lang="he-IL" sz="2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 קורה. במסך מופיע לוח עם 6 קטגוריות, ו7 שאלות בכל קטגוריה.</a:t>
            </a:r>
            <a:endParaRPr lang="he-IL" sz="2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braham" panose="00000500000000000000" pitchFamily="2" charset="-79"/>
              <a:cs typeface="Abraham" panose="00000500000000000000" pitchFamily="2" charset="-79"/>
            </a:endParaRPr>
          </a:p>
        </p:txBody>
      </p:sp>
      <p:pic>
        <p:nvPicPr>
          <p:cNvPr id="21" name="תמונה 20" descr="תמונה שמכילה טקסט, חשמל, צילום מסך, תוכנ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3684EBA4-68AE-EA6E-FC67-220EDB3553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738" r="1135" b="7642"/>
          <a:stretch>
            <a:fillRect/>
          </a:stretch>
        </p:blipFill>
        <p:spPr>
          <a:xfrm>
            <a:off x="1007919" y="293983"/>
            <a:ext cx="10176161" cy="45519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742217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2E2C8-CE7D-69CC-5DAE-73A437977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מלבן 17">
            <a:extLst>
              <a:ext uri="{FF2B5EF4-FFF2-40B4-BE49-F238E27FC236}">
                <a16:creationId xmlns:a16="http://schemas.microsoft.com/office/drawing/2014/main" id="{6EA1DCF8-5200-87A8-D6CC-13D9A77F5B36}"/>
              </a:ext>
            </a:extLst>
          </p:cNvPr>
          <p:cNvSpPr/>
          <p:nvPr/>
        </p:nvSpPr>
        <p:spPr>
          <a:xfrm>
            <a:off x="3526737" y="515442"/>
            <a:ext cx="474442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28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בצד ימין למעלה אפשר לראות:</a:t>
            </a:r>
          </a:p>
        </p:txBody>
      </p:sp>
      <p:sp>
        <p:nvSpPr>
          <p:cNvPr id="19" name="מלבן 18">
            <a:extLst>
              <a:ext uri="{FF2B5EF4-FFF2-40B4-BE49-F238E27FC236}">
                <a16:creationId xmlns:a16="http://schemas.microsoft.com/office/drawing/2014/main" id="{E1E61AF5-2C00-123C-F7D5-6976199D6A12}"/>
              </a:ext>
            </a:extLst>
          </p:cNvPr>
          <p:cNvSpPr/>
          <p:nvPr/>
        </p:nvSpPr>
        <p:spPr>
          <a:xfrm>
            <a:off x="342492" y="1871883"/>
            <a:ext cx="4205670" cy="9541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2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לאיזה קבוצה שייך התור עכשיו</a:t>
            </a:r>
            <a:endParaRPr lang="he-IL" sz="2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braham" panose="00000500000000000000" pitchFamily="2" charset="-79"/>
              <a:cs typeface="Abraham" panose="00000500000000000000" pitchFamily="2" charset="-79"/>
            </a:endParaRPr>
          </a:p>
        </p:txBody>
      </p:sp>
      <p:pic>
        <p:nvPicPr>
          <p:cNvPr id="4" name="תמונה 3" descr="תמונה שמכילה טקסט, צילום מסך, תוכנה, סמל מחש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3CE1ADE7-FA35-03AA-D0A3-2851421123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478" t="17374" r="16136" b="10101"/>
          <a:stretch>
            <a:fillRect/>
          </a:stretch>
        </p:blipFill>
        <p:spPr>
          <a:xfrm>
            <a:off x="5209311" y="1581031"/>
            <a:ext cx="6317672" cy="44911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מלבן 4">
            <a:extLst>
              <a:ext uri="{FF2B5EF4-FFF2-40B4-BE49-F238E27FC236}">
                <a16:creationId xmlns:a16="http://schemas.microsoft.com/office/drawing/2014/main" id="{AEA139E4-64E0-442A-9300-CB68E788C8B3}"/>
              </a:ext>
            </a:extLst>
          </p:cNvPr>
          <p:cNvSpPr/>
          <p:nvPr/>
        </p:nvSpPr>
        <p:spPr>
          <a:xfrm>
            <a:off x="587288" y="3659211"/>
            <a:ext cx="3560620" cy="224676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28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הצבע והשם של הקבוצות, והניקוד הנוכחי של כל אחת מהקבוצות, שישתנה במהלך המשחק כמובן</a:t>
            </a:r>
          </a:p>
        </p:txBody>
      </p:sp>
      <p:sp>
        <p:nvSpPr>
          <p:cNvPr id="8" name="צורה חופשית: צורה 7">
            <a:extLst>
              <a:ext uri="{FF2B5EF4-FFF2-40B4-BE49-F238E27FC236}">
                <a16:creationId xmlns:a16="http://schemas.microsoft.com/office/drawing/2014/main" id="{D6718BCB-44B4-D382-8577-A40EF9C6F3F5}"/>
              </a:ext>
            </a:extLst>
          </p:cNvPr>
          <p:cNvSpPr/>
          <p:nvPr/>
        </p:nvSpPr>
        <p:spPr>
          <a:xfrm>
            <a:off x="4315691" y="3521824"/>
            <a:ext cx="651164" cy="2287659"/>
          </a:xfrm>
          <a:custGeom>
            <a:avLst/>
            <a:gdLst>
              <a:gd name="csX0" fmla="*/ 651164 w 651164"/>
              <a:gd name="csY0" fmla="*/ 0 h 2287659"/>
              <a:gd name="csX1" fmla="*/ 581891 w 651164"/>
              <a:gd name="csY1" fmla="*/ 13855 h 2287659"/>
              <a:gd name="csX2" fmla="*/ 387928 w 651164"/>
              <a:gd name="csY2" fmla="*/ 27710 h 2287659"/>
              <a:gd name="csX3" fmla="*/ 263237 w 651164"/>
              <a:gd name="csY3" fmla="*/ 83128 h 2287659"/>
              <a:gd name="csX4" fmla="*/ 221673 w 651164"/>
              <a:gd name="csY4" fmla="*/ 166255 h 2287659"/>
              <a:gd name="csX5" fmla="*/ 207819 w 651164"/>
              <a:gd name="csY5" fmla="*/ 207819 h 2287659"/>
              <a:gd name="csX6" fmla="*/ 263237 w 651164"/>
              <a:gd name="csY6" fmla="*/ 720437 h 2287659"/>
              <a:gd name="csX7" fmla="*/ 180110 w 651164"/>
              <a:gd name="csY7" fmla="*/ 1025237 h 2287659"/>
              <a:gd name="csX8" fmla="*/ 138546 w 651164"/>
              <a:gd name="csY8" fmla="*/ 1039091 h 2287659"/>
              <a:gd name="csX9" fmla="*/ 96982 w 651164"/>
              <a:gd name="csY9" fmla="*/ 1066800 h 2287659"/>
              <a:gd name="csX10" fmla="*/ 55419 w 651164"/>
              <a:gd name="csY10" fmla="*/ 1080655 h 2287659"/>
              <a:gd name="csX11" fmla="*/ 0 w 651164"/>
              <a:gd name="csY11" fmla="*/ 1122219 h 2287659"/>
              <a:gd name="csX12" fmla="*/ 83128 w 651164"/>
              <a:gd name="csY12" fmla="*/ 1136073 h 2287659"/>
              <a:gd name="csX13" fmla="*/ 207819 w 651164"/>
              <a:gd name="csY13" fmla="*/ 1191491 h 2287659"/>
              <a:gd name="csX14" fmla="*/ 277091 w 651164"/>
              <a:gd name="csY14" fmla="*/ 1357746 h 2287659"/>
              <a:gd name="csX15" fmla="*/ 304800 w 651164"/>
              <a:gd name="csY15" fmla="*/ 2244437 h 2287659"/>
              <a:gd name="csX16" fmla="*/ 332510 w 651164"/>
              <a:gd name="csY16" fmla="*/ 2272146 h 2287659"/>
              <a:gd name="csX17" fmla="*/ 387928 w 651164"/>
              <a:gd name="csY17" fmla="*/ 2286000 h 2287659"/>
              <a:gd name="csX18" fmla="*/ 623455 w 651164"/>
              <a:gd name="csY18" fmla="*/ 2286000 h 22876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651164" h="2287659">
                <a:moveTo>
                  <a:pt x="651164" y="0"/>
                </a:moveTo>
                <a:cubicBezTo>
                  <a:pt x="628073" y="4618"/>
                  <a:pt x="605310" y="11390"/>
                  <a:pt x="581891" y="13855"/>
                </a:cubicBezTo>
                <a:cubicBezTo>
                  <a:pt x="517428" y="20641"/>
                  <a:pt x="451954" y="17601"/>
                  <a:pt x="387928" y="27710"/>
                </a:cubicBezTo>
                <a:cubicBezTo>
                  <a:pt x="362073" y="31792"/>
                  <a:pt x="288918" y="70287"/>
                  <a:pt x="263237" y="83128"/>
                </a:cubicBezTo>
                <a:cubicBezTo>
                  <a:pt x="249382" y="110837"/>
                  <a:pt x="234255" y="137945"/>
                  <a:pt x="221673" y="166255"/>
                </a:cubicBezTo>
                <a:cubicBezTo>
                  <a:pt x="215742" y="179600"/>
                  <a:pt x="206727" y="193256"/>
                  <a:pt x="207819" y="207819"/>
                </a:cubicBezTo>
                <a:cubicBezTo>
                  <a:pt x="220673" y="379206"/>
                  <a:pt x="263237" y="720437"/>
                  <a:pt x="263237" y="720437"/>
                </a:cubicBezTo>
                <a:cubicBezTo>
                  <a:pt x="246846" y="851562"/>
                  <a:pt x="269925" y="935423"/>
                  <a:pt x="180110" y="1025237"/>
                </a:cubicBezTo>
                <a:cubicBezTo>
                  <a:pt x="169783" y="1035564"/>
                  <a:pt x="152401" y="1034473"/>
                  <a:pt x="138546" y="1039091"/>
                </a:cubicBezTo>
                <a:cubicBezTo>
                  <a:pt x="124691" y="1048327"/>
                  <a:pt x="111875" y="1059353"/>
                  <a:pt x="96982" y="1066800"/>
                </a:cubicBezTo>
                <a:cubicBezTo>
                  <a:pt x="83920" y="1073331"/>
                  <a:pt x="68099" y="1073409"/>
                  <a:pt x="55419" y="1080655"/>
                </a:cubicBezTo>
                <a:cubicBezTo>
                  <a:pt x="35370" y="1092112"/>
                  <a:pt x="18473" y="1108364"/>
                  <a:pt x="0" y="1122219"/>
                </a:cubicBezTo>
                <a:cubicBezTo>
                  <a:pt x="27709" y="1126837"/>
                  <a:pt x="55705" y="1129979"/>
                  <a:pt x="83128" y="1136073"/>
                </a:cubicBezTo>
                <a:cubicBezTo>
                  <a:pt x="125694" y="1145532"/>
                  <a:pt x="171847" y="1173505"/>
                  <a:pt x="207819" y="1191491"/>
                </a:cubicBezTo>
                <a:cubicBezTo>
                  <a:pt x="228996" y="1233846"/>
                  <a:pt x="274467" y="1319954"/>
                  <a:pt x="277091" y="1357746"/>
                </a:cubicBezTo>
                <a:cubicBezTo>
                  <a:pt x="297577" y="1652744"/>
                  <a:pt x="286911" y="1949271"/>
                  <a:pt x="304800" y="2244437"/>
                </a:cubicBezTo>
                <a:cubicBezTo>
                  <a:pt x="305590" y="2257475"/>
                  <a:pt x="320827" y="2266304"/>
                  <a:pt x="332510" y="2272146"/>
                </a:cubicBezTo>
                <a:cubicBezTo>
                  <a:pt x="349541" y="2280661"/>
                  <a:pt x="368908" y="2285094"/>
                  <a:pt x="387928" y="2286000"/>
                </a:cubicBezTo>
                <a:cubicBezTo>
                  <a:pt x="466348" y="2289734"/>
                  <a:pt x="544946" y="2286000"/>
                  <a:pt x="623455" y="2286000"/>
                </a:cubicBezTo>
              </a:path>
            </a:pathLst>
          </a:custGeom>
          <a:noFill/>
          <a:ln w="57150">
            <a:solidFill>
              <a:schemeClr val="tx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9" name="צורה חופשית: צורה 8">
            <a:extLst>
              <a:ext uri="{FF2B5EF4-FFF2-40B4-BE49-F238E27FC236}">
                <a16:creationId xmlns:a16="http://schemas.microsoft.com/office/drawing/2014/main" id="{14415BCD-23A9-1BA0-F609-BAB9845B7686}"/>
              </a:ext>
            </a:extLst>
          </p:cNvPr>
          <p:cNvSpPr/>
          <p:nvPr/>
        </p:nvSpPr>
        <p:spPr>
          <a:xfrm>
            <a:off x="4548162" y="1964654"/>
            <a:ext cx="325582" cy="631178"/>
          </a:xfrm>
          <a:custGeom>
            <a:avLst/>
            <a:gdLst>
              <a:gd name="csX0" fmla="*/ 651164 w 651164"/>
              <a:gd name="csY0" fmla="*/ 0 h 2287659"/>
              <a:gd name="csX1" fmla="*/ 581891 w 651164"/>
              <a:gd name="csY1" fmla="*/ 13855 h 2287659"/>
              <a:gd name="csX2" fmla="*/ 387928 w 651164"/>
              <a:gd name="csY2" fmla="*/ 27710 h 2287659"/>
              <a:gd name="csX3" fmla="*/ 263237 w 651164"/>
              <a:gd name="csY3" fmla="*/ 83128 h 2287659"/>
              <a:gd name="csX4" fmla="*/ 221673 w 651164"/>
              <a:gd name="csY4" fmla="*/ 166255 h 2287659"/>
              <a:gd name="csX5" fmla="*/ 207819 w 651164"/>
              <a:gd name="csY5" fmla="*/ 207819 h 2287659"/>
              <a:gd name="csX6" fmla="*/ 263237 w 651164"/>
              <a:gd name="csY6" fmla="*/ 720437 h 2287659"/>
              <a:gd name="csX7" fmla="*/ 180110 w 651164"/>
              <a:gd name="csY7" fmla="*/ 1025237 h 2287659"/>
              <a:gd name="csX8" fmla="*/ 138546 w 651164"/>
              <a:gd name="csY8" fmla="*/ 1039091 h 2287659"/>
              <a:gd name="csX9" fmla="*/ 96982 w 651164"/>
              <a:gd name="csY9" fmla="*/ 1066800 h 2287659"/>
              <a:gd name="csX10" fmla="*/ 55419 w 651164"/>
              <a:gd name="csY10" fmla="*/ 1080655 h 2287659"/>
              <a:gd name="csX11" fmla="*/ 0 w 651164"/>
              <a:gd name="csY11" fmla="*/ 1122219 h 2287659"/>
              <a:gd name="csX12" fmla="*/ 83128 w 651164"/>
              <a:gd name="csY12" fmla="*/ 1136073 h 2287659"/>
              <a:gd name="csX13" fmla="*/ 207819 w 651164"/>
              <a:gd name="csY13" fmla="*/ 1191491 h 2287659"/>
              <a:gd name="csX14" fmla="*/ 277091 w 651164"/>
              <a:gd name="csY14" fmla="*/ 1357746 h 2287659"/>
              <a:gd name="csX15" fmla="*/ 304800 w 651164"/>
              <a:gd name="csY15" fmla="*/ 2244437 h 2287659"/>
              <a:gd name="csX16" fmla="*/ 332510 w 651164"/>
              <a:gd name="csY16" fmla="*/ 2272146 h 2287659"/>
              <a:gd name="csX17" fmla="*/ 387928 w 651164"/>
              <a:gd name="csY17" fmla="*/ 2286000 h 2287659"/>
              <a:gd name="csX18" fmla="*/ 623455 w 651164"/>
              <a:gd name="csY18" fmla="*/ 2286000 h 22876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651164" h="2287659">
                <a:moveTo>
                  <a:pt x="651164" y="0"/>
                </a:moveTo>
                <a:cubicBezTo>
                  <a:pt x="628073" y="4618"/>
                  <a:pt x="605310" y="11390"/>
                  <a:pt x="581891" y="13855"/>
                </a:cubicBezTo>
                <a:cubicBezTo>
                  <a:pt x="517428" y="20641"/>
                  <a:pt x="451954" y="17601"/>
                  <a:pt x="387928" y="27710"/>
                </a:cubicBezTo>
                <a:cubicBezTo>
                  <a:pt x="362073" y="31792"/>
                  <a:pt x="288918" y="70287"/>
                  <a:pt x="263237" y="83128"/>
                </a:cubicBezTo>
                <a:cubicBezTo>
                  <a:pt x="249382" y="110837"/>
                  <a:pt x="234255" y="137945"/>
                  <a:pt x="221673" y="166255"/>
                </a:cubicBezTo>
                <a:cubicBezTo>
                  <a:pt x="215742" y="179600"/>
                  <a:pt x="206727" y="193256"/>
                  <a:pt x="207819" y="207819"/>
                </a:cubicBezTo>
                <a:cubicBezTo>
                  <a:pt x="220673" y="379206"/>
                  <a:pt x="263237" y="720437"/>
                  <a:pt x="263237" y="720437"/>
                </a:cubicBezTo>
                <a:cubicBezTo>
                  <a:pt x="246846" y="851562"/>
                  <a:pt x="269925" y="935423"/>
                  <a:pt x="180110" y="1025237"/>
                </a:cubicBezTo>
                <a:cubicBezTo>
                  <a:pt x="169783" y="1035564"/>
                  <a:pt x="152401" y="1034473"/>
                  <a:pt x="138546" y="1039091"/>
                </a:cubicBezTo>
                <a:cubicBezTo>
                  <a:pt x="124691" y="1048327"/>
                  <a:pt x="111875" y="1059353"/>
                  <a:pt x="96982" y="1066800"/>
                </a:cubicBezTo>
                <a:cubicBezTo>
                  <a:pt x="83920" y="1073331"/>
                  <a:pt x="68099" y="1073409"/>
                  <a:pt x="55419" y="1080655"/>
                </a:cubicBezTo>
                <a:cubicBezTo>
                  <a:pt x="35370" y="1092112"/>
                  <a:pt x="18473" y="1108364"/>
                  <a:pt x="0" y="1122219"/>
                </a:cubicBezTo>
                <a:cubicBezTo>
                  <a:pt x="27709" y="1126837"/>
                  <a:pt x="55705" y="1129979"/>
                  <a:pt x="83128" y="1136073"/>
                </a:cubicBezTo>
                <a:cubicBezTo>
                  <a:pt x="125694" y="1145532"/>
                  <a:pt x="171847" y="1173505"/>
                  <a:pt x="207819" y="1191491"/>
                </a:cubicBezTo>
                <a:cubicBezTo>
                  <a:pt x="228996" y="1233846"/>
                  <a:pt x="274467" y="1319954"/>
                  <a:pt x="277091" y="1357746"/>
                </a:cubicBezTo>
                <a:cubicBezTo>
                  <a:pt x="297577" y="1652744"/>
                  <a:pt x="286911" y="1949271"/>
                  <a:pt x="304800" y="2244437"/>
                </a:cubicBezTo>
                <a:cubicBezTo>
                  <a:pt x="305590" y="2257475"/>
                  <a:pt x="320827" y="2266304"/>
                  <a:pt x="332510" y="2272146"/>
                </a:cubicBezTo>
                <a:cubicBezTo>
                  <a:pt x="349541" y="2280661"/>
                  <a:pt x="368908" y="2285094"/>
                  <a:pt x="387928" y="2286000"/>
                </a:cubicBezTo>
                <a:cubicBezTo>
                  <a:pt x="466348" y="2289734"/>
                  <a:pt x="544946" y="2286000"/>
                  <a:pt x="623455" y="2286000"/>
                </a:cubicBezTo>
              </a:path>
            </a:pathLst>
          </a:custGeom>
          <a:noFill/>
          <a:ln w="57150">
            <a:solidFill>
              <a:schemeClr val="tx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83422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EE910-E482-626F-DCA4-68666C424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מלבן 17">
            <a:extLst>
              <a:ext uri="{FF2B5EF4-FFF2-40B4-BE49-F238E27FC236}">
                <a16:creationId xmlns:a16="http://schemas.microsoft.com/office/drawing/2014/main" id="{FFDC8352-A9E2-4711-AC80-720A58D4AA34}"/>
              </a:ext>
            </a:extLst>
          </p:cNvPr>
          <p:cNvSpPr/>
          <p:nvPr/>
        </p:nvSpPr>
        <p:spPr>
          <a:xfrm>
            <a:off x="1365428" y="4961264"/>
            <a:ext cx="9461141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הלוח עצמו</a:t>
            </a:r>
            <a:endParaRPr lang="he-IL" sz="4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Abraham" panose="00000500000000000000" pitchFamily="2" charset="-79"/>
              <a:cs typeface="Abraham" panose="00000500000000000000" pitchFamily="2" charset="-79"/>
            </a:endParaRPr>
          </a:p>
        </p:txBody>
      </p:sp>
      <p:sp>
        <p:nvSpPr>
          <p:cNvPr id="19" name="מלבן 18">
            <a:extLst>
              <a:ext uri="{FF2B5EF4-FFF2-40B4-BE49-F238E27FC236}">
                <a16:creationId xmlns:a16="http://schemas.microsoft.com/office/drawing/2014/main" id="{662280B0-9A74-65B2-A658-CDD11A228BBE}"/>
              </a:ext>
            </a:extLst>
          </p:cNvPr>
          <p:cNvSpPr/>
          <p:nvPr/>
        </p:nvSpPr>
        <p:spPr>
          <a:xfrm>
            <a:off x="255492" y="5810597"/>
            <a:ext cx="11681011" cy="9541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28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על כל קבוצה לבחור בתורה קטגוריה ומספר</a:t>
            </a:r>
            <a:br>
              <a:rPr lang="en-US" sz="28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</a:br>
            <a:r>
              <a:rPr lang="he-IL" sz="28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עליכם ללחוץ על המספר שהקבוצה בחרה, ותופיע השאלה בנושא</a:t>
            </a:r>
          </a:p>
        </p:txBody>
      </p:sp>
      <p:pic>
        <p:nvPicPr>
          <p:cNvPr id="21" name="תמונה 20" descr="תמונה שמכילה טקסט, חשמל, צילום מסך, תוכנ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E60946F5-FEAE-481F-AE99-13EA29273F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763" t="21821" r="31454" b="10459"/>
          <a:stretch>
            <a:fillRect/>
          </a:stretch>
        </p:blipFill>
        <p:spPr>
          <a:xfrm>
            <a:off x="2306778" y="288721"/>
            <a:ext cx="7578437" cy="46725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179533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E1463-D3D3-C28F-C5F3-CCEEA0B9F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 descr="תמונה שמכילה טקסט, צילום מסך, תוכנה, סמל מחש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C100B123-7C93-FF68-C883-0CE8C6FEC9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117" r="1215" b="5882"/>
          <a:stretch>
            <a:fillRect/>
          </a:stretch>
        </p:blipFill>
        <p:spPr>
          <a:xfrm>
            <a:off x="738126" y="492148"/>
            <a:ext cx="9699315" cy="44183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מלבן 5">
            <a:extLst>
              <a:ext uri="{FF2B5EF4-FFF2-40B4-BE49-F238E27FC236}">
                <a16:creationId xmlns:a16="http://schemas.microsoft.com/office/drawing/2014/main" id="{1557E37D-2B08-5A42-0B5D-B179B1EA6758}"/>
              </a:ext>
            </a:extLst>
          </p:cNvPr>
          <p:cNvSpPr/>
          <p:nvPr/>
        </p:nvSpPr>
        <p:spPr>
          <a:xfrm>
            <a:off x="738126" y="5041156"/>
            <a:ext cx="10715733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שאלה לדוגמה – שאלה רגילה, אמריקאית</a:t>
            </a:r>
            <a:endParaRPr lang="he-IL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Abraham" panose="00000500000000000000" pitchFamily="2" charset="-79"/>
              <a:cs typeface="Abraham" panose="00000500000000000000" pitchFamily="2" charset="-79"/>
            </a:endParaRP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3A4E8F68-A36A-4DAD-5B96-C100EFC88E01}"/>
              </a:ext>
            </a:extLst>
          </p:cNvPr>
          <p:cNvSpPr/>
          <p:nvPr/>
        </p:nvSpPr>
        <p:spPr>
          <a:xfrm>
            <a:off x="255488" y="5810597"/>
            <a:ext cx="11681011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2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כעת כשהשאלה מוצגת בפני הכיתה, יש להם אפשרות לענות בלחיצה על התשובה שחושבים שהיא הנכונה, או להיעזר באחד מגלגלי ההצלה</a:t>
            </a:r>
          </a:p>
        </p:txBody>
      </p:sp>
    </p:spTree>
    <p:extLst>
      <p:ext uri="{BB962C8B-B14F-4D97-AF65-F5344CB8AC3E}">
        <p14:creationId xmlns:p14="http://schemas.microsoft.com/office/powerpoint/2010/main" val="38786461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F41CF-5968-23DB-0ACE-A85777DBB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 descr="תמונה שמכילה טקסט, צילום מסך, תוכנה, סמל מחש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5FDC2CD5-9EEE-7D39-C4E3-A832130401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117" r="1215" b="5882"/>
          <a:stretch>
            <a:fillRect/>
          </a:stretch>
        </p:blipFill>
        <p:spPr>
          <a:xfrm>
            <a:off x="738126" y="502308"/>
            <a:ext cx="9699315" cy="44183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מלבן 5">
            <a:extLst>
              <a:ext uri="{FF2B5EF4-FFF2-40B4-BE49-F238E27FC236}">
                <a16:creationId xmlns:a16="http://schemas.microsoft.com/office/drawing/2014/main" id="{0245844E-95C7-0962-76C3-52126842929C}"/>
              </a:ext>
            </a:extLst>
          </p:cNvPr>
          <p:cNvSpPr/>
          <p:nvPr/>
        </p:nvSpPr>
        <p:spPr>
          <a:xfrm>
            <a:off x="738133" y="5079195"/>
            <a:ext cx="10715733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למעלה מופיעים - הקטגוריה, מספר השאלה, סוג השאלה וכמות הניקוד שאפשר לקבל עליה</a:t>
            </a:r>
            <a:endParaRPr lang="he-IL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Abraham" panose="00000500000000000000" pitchFamily="2" charset="-79"/>
              <a:cs typeface="Abraham" panose="00000500000000000000" pitchFamily="2" charset="-79"/>
            </a:endParaRPr>
          </a:p>
        </p:txBody>
      </p:sp>
      <p:sp>
        <p:nvSpPr>
          <p:cNvPr id="8" name="מעגל: חלול 7">
            <a:extLst>
              <a:ext uri="{FF2B5EF4-FFF2-40B4-BE49-F238E27FC236}">
                <a16:creationId xmlns:a16="http://schemas.microsoft.com/office/drawing/2014/main" id="{CD569195-4C20-424F-8F65-A77F34D305CF}"/>
              </a:ext>
            </a:extLst>
          </p:cNvPr>
          <p:cNvSpPr/>
          <p:nvPr/>
        </p:nvSpPr>
        <p:spPr>
          <a:xfrm>
            <a:off x="6583034" y="1384091"/>
            <a:ext cx="2130661" cy="664564"/>
          </a:xfrm>
          <a:prstGeom prst="donut">
            <a:avLst>
              <a:gd name="adj" fmla="val 0"/>
            </a:avLst>
          </a:prstGeom>
          <a:solidFill>
            <a:schemeClr val="accent3">
              <a:lumMod val="75000"/>
              <a:lumOff val="2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  <p:cxnSp>
        <p:nvCxnSpPr>
          <p:cNvPr id="9" name="מחבר: מעוקל 8">
            <a:extLst>
              <a:ext uri="{FF2B5EF4-FFF2-40B4-BE49-F238E27FC236}">
                <a16:creationId xmlns:a16="http://schemas.microsoft.com/office/drawing/2014/main" id="{47DD128E-10C4-1D91-CF59-247520B5A4D5}"/>
              </a:ext>
            </a:extLst>
          </p:cNvPr>
          <p:cNvCxnSpPr>
            <a:cxnSpLocks/>
          </p:cNvCxnSpPr>
          <p:nvPr/>
        </p:nvCxnSpPr>
        <p:spPr>
          <a:xfrm rot="16200000" flipV="1">
            <a:off x="7614316" y="2821598"/>
            <a:ext cx="3090904" cy="1545019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>
                <a:alpha val="6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38355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29FBF-681E-8760-81BB-6AF048071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לבן 3">
            <a:extLst>
              <a:ext uri="{FF2B5EF4-FFF2-40B4-BE49-F238E27FC236}">
                <a16:creationId xmlns:a16="http://schemas.microsoft.com/office/drawing/2014/main" id="{12B285E6-58ED-6AAC-789D-8822BFE3D037}"/>
              </a:ext>
            </a:extLst>
          </p:cNvPr>
          <p:cNvSpPr/>
          <p:nvPr/>
        </p:nvSpPr>
        <p:spPr>
          <a:xfrm>
            <a:off x="1429276" y="5329254"/>
            <a:ext cx="9461141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גלגל הצלה – שאל את המורה</a:t>
            </a: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D9FC1FD7-6CDD-3D38-7F70-90DAD540DAD6}"/>
              </a:ext>
            </a:extLst>
          </p:cNvPr>
          <p:cNvSpPr/>
          <p:nvPr/>
        </p:nvSpPr>
        <p:spPr>
          <a:xfrm>
            <a:off x="1301574" y="6252584"/>
            <a:ext cx="9588843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2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לכל קבוצה יש שימוש אחד בלבד בגלגל זה, ניתן לשימוש רק בשאלות רגילות</a:t>
            </a:r>
            <a:endParaRPr lang="he-IL" sz="2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braham" panose="00000500000000000000" pitchFamily="2" charset="-79"/>
              <a:cs typeface="Abraham" panose="00000500000000000000" pitchFamily="2" charset="-79"/>
            </a:endParaRPr>
          </a:p>
        </p:txBody>
      </p:sp>
      <p:pic>
        <p:nvPicPr>
          <p:cNvPr id="3" name="תמונה 2" descr="תמונה שמכילה טקסט, צילום מסך, תוכנה, תכונות מולטימדי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9D5C9CCF-D958-12BD-B1B9-0C20DA4498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824" r="956" b="6652"/>
          <a:stretch>
            <a:fillRect/>
          </a:stretch>
        </p:blipFill>
        <p:spPr>
          <a:xfrm>
            <a:off x="870693" y="461776"/>
            <a:ext cx="10250388" cy="49205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מעגל: חלול 1">
            <a:extLst>
              <a:ext uri="{FF2B5EF4-FFF2-40B4-BE49-F238E27FC236}">
                <a16:creationId xmlns:a16="http://schemas.microsoft.com/office/drawing/2014/main" id="{54A46561-7EC7-8EAA-DB3F-5D894AFA7346}"/>
              </a:ext>
            </a:extLst>
          </p:cNvPr>
          <p:cNvSpPr/>
          <p:nvPr/>
        </p:nvSpPr>
        <p:spPr>
          <a:xfrm>
            <a:off x="7764294" y="3741224"/>
            <a:ext cx="1343417" cy="365127"/>
          </a:xfrm>
          <a:prstGeom prst="donut">
            <a:avLst>
              <a:gd name="adj" fmla="val 3873"/>
            </a:avLst>
          </a:prstGeom>
          <a:solidFill>
            <a:schemeClr val="accent3">
              <a:lumMod val="75000"/>
              <a:lumOff val="2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  <p:cxnSp>
        <p:nvCxnSpPr>
          <p:cNvPr id="5" name="מחבר: מעוקל 4">
            <a:extLst>
              <a:ext uri="{FF2B5EF4-FFF2-40B4-BE49-F238E27FC236}">
                <a16:creationId xmlns:a16="http://schemas.microsoft.com/office/drawing/2014/main" id="{24D8F0BD-071D-FFFB-971F-270A8C8BB464}"/>
              </a:ext>
            </a:extLst>
          </p:cNvPr>
          <p:cNvCxnSpPr>
            <a:cxnSpLocks/>
            <a:stCxn id="3" idx="2"/>
          </p:cNvCxnSpPr>
          <p:nvPr/>
        </p:nvCxnSpPr>
        <p:spPr>
          <a:xfrm rot="5400000" flipH="1" flipV="1">
            <a:off x="6645407" y="3591742"/>
            <a:ext cx="1141076" cy="2440117"/>
          </a:xfrm>
          <a:prstGeom prst="curvedConnector4">
            <a:avLst>
              <a:gd name="adj1" fmla="val 36836"/>
              <a:gd name="adj2" fmla="val 100126"/>
            </a:avLst>
          </a:prstGeom>
          <a:ln w="38100">
            <a:solidFill>
              <a:srgbClr val="FF0000">
                <a:alpha val="6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10770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EC055-9864-FA29-DF13-9FB3183DD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לבן 3">
            <a:extLst>
              <a:ext uri="{FF2B5EF4-FFF2-40B4-BE49-F238E27FC236}">
                <a16:creationId xmlns:a16="http://schemas.microsoft.com/office/drawing/2014/main" id="{436AEBE7-54BD-06CE-9F47-31E847698750}"/>
              </a:ext>
            </a:extLst>
          </p:cNvPr>
          <p:cNvSpPr/>
          <p:nvPr/>
        </p:nvSpPr>
        <p:spPr>
          <a:xfrm>
            <a:off x="1365426" y="4837048"/>
            <a:ext cx="9461141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גלגל הצלה – </a:t>
            </a:r>
            <a:r>
              <a:rPr lang="he-IL" sz="4000" b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גגל</a:t>
            </a:r>
            <a:r>
              <a:rPr lang="he-IL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 בגוגל 20 שניות</a:t>
            </a: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8CBA80DD-9396-6602-8541-D6A63E12F27A}"/>
              </a:ext>
            </a:extLst>
          </p:cNvPr>
          <p:cNvSpPr/>
          <p:nvPr/>
        </p:nvSpPr>
        <p:spPr>
          <a:xfrm>
            <a:off x="255492" y="5520127"/>
            <a:ext cx="11681011" cy="110799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22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כשהתלמיד מוכן עם הגוגל, עליכם ללחוץ על "טיימר 20 שניות", ויפתח טיימר הסופר לאחור למטה.</a:t>
            </a:r>
            <a:br>
              <a:rPr lang="en-US" sz="22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</a:br>
            <a:r>
              <a:rPr lang="he-IL" sz="22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בסיום 20 השניות, על התלמידים להפסיק לגלול ולתת תשובה.</a:t>
            </a:r>
            <a:br>
              <a:rPr lang="en-US" sz="22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</a:br>
            <a:r>
              <a:rPr lang="he-IL" sz="22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לכל קבוצה יש שימוש אחד בלבד בגלגל זה, ניתן לשימוש רק בשאלות רגילות</a:t>
            </a:r>
            <a:endParaRPr lang="he-IL" sz="22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braham" panose="00000500000000000000" pitchFamily="2" charset="-79"/>
              <a:cs typeface="Abraham" panose="00000500000000000000" pitchFamily="2" charset="-79"/>
            </a:endParaRPr>
          </a:p>
        </p:txBody>
      </p:sp>
      <p:pic>
        <p:nvPicPr>
          <p:cNvPr id="7" name="תמונה 6" descr="תמונה שמכילה טקסט, צילום מסך, תוכנה, סמל מחש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AACF9976-E9AD-F08A-837B-0848710730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922" r="1066" b="7991"/>
          <a:stretch>
            <a:fillRect/>
          </a:stretch>
        </p:blipFill>
        <p:spPr>
          <a:xfrm>
            <a:off x="962585" y="278857"/>
            <a:ext cx="10266830" cy="45581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מעגל: חלול 8">
            <a:extLst>
              <a:ext uri="{FF2B5EF4-FFF2-40B4-BE49-F238E27FC236}">
                <a16:creationId xmlns:a16="http://schemas.microsoft.com/office/drawing/2014/main" id="{C011A3D0-D84E-E901-84DD-D3A5B61017CF}"/>
              </a:ext>
            </a:extLst>
          </p:cNvPr>
          <p:cNvSpPr/>
          <p:nvPr/>
        </p:nvSpPr>
        <p:spPr>
          <a:xfrm>
            <a:off x="6969211" y="3138616"/>
            <a:ext cx="970005" cy="339810"/>
          </a:xfrm>
          <a:prstGeom prst="donut">
            <a:avLst>
              <a:gd name="adj" fmla="val 3873"/>
            </a:avLst>
          </a:prstGeom>
          <a:solidFill>
            <a:schemeClr val="accent3">
              <a:lumMod val="75000"/>
              <a:lumOff val="2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  <p:cxnSp>
        <p:nvCxnSpPr>
          <p:cNvPr id="11" name="מחבר: מעוקל 10">
            <a:extLst>
              <a:ext uri="{FF2B5EF4-FFF2-40B4-BE49-F238E27FC236}">
                <a16:creationId xmlns:a16="http://schemas.microsoft.com/office/drawing/2014/main" id="{AF180115-1C02-E3B0-9E6F-694B0A6FFEC7}"/>
              </a:ext>
            </a:extLst>
          </p:cNvPr>
          <p:cNvCxnSpPr>
            <a:stCxn id="7" idx="2"/>
          </p:cNvCxnSpPr>
          <p:nvPr/>
        </p:nvCxnSpPr>
        <p:spPr>
          <a:xfrm rot="5400000" flipH="1" flipV="1">
            <a:off x="6084344" y="3564152"/>
            <a:ext cx="1284551" cy="1261241"/>
          </a:xfrm>
          <a:prstGeom prst="curvedConnector3">
            <a:avLst>
              <a:gd name="adj1" fmla="val 48479"/>
            </a:avLst>
          </a:prstGeom>
          <a:ln w="38100">
            <a:solidFill>
              <a:srgbClr val="FF0000">
                <a:alpha val="6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3721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69390-C3B8-BE5A-C815-4E8E2025E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מלבן 5">
            <a:extLst>
              <a:ext uri="{FF2B5EF4-FFF2-40B4-BE49-F238E27FC236}">
                <a16:creationId xmlns:a16="http://schemas.microsoft.com/office/drawing/2014/main" id="{22885273-9A9D-6373-247A-1F1D520A985E}"/>
              </a:ext>
            </a:extLst>
          </p:cNvPr>
          <p:cNvSpPr/>
          <p:nvPr/>
        </p:nvSpPr>
        <p:spPr>
          <a:xfrm>
            <a:off x="738135" y="4799490"/>
            <a:ext cx="10715733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מענה </a:t>
            </a:r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שגוי</a:t>
            </a:r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 על השאלה</a:t>
            </a:r>
            <a:endParaRPr lang="he-IL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Abraham" panose="00000500000000000000" pitchFamily="2" charset="-79"/>
              <a:cs typeface="Abraham" panose="00000500000000000000" pitchFamily="2" charset="-79"/>
            </a:endParaRP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E02E957A-ECDC-67D5-8B41-7787A04A24BA}"/>
              </a:ext>
            </a:extLst>
          </p:cNvPr>
          <p:cNvSpPr/>
          <p:nvPr/>
        </p:nvSpPr>
        <p:spPr>
          <a:xfrm>
            <a:off x="255494" y="5477561"/>
            <a:ext cx="11681011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2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אם התלמידים ענו תשובה לא נכונה, תקפוץ הודעה שתגיד שזו התשובה הלא נכונה. זה קורה על מנת שגם אם לא ידעו - התלמידים ילמדו משהו חדש</a:t>
            </a:r>
            <a:br>
              <a:rPr lang="en-US" sz="2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</a:br>
            <a:r>
              <a:rPr lang="he-IL" sz="2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פה לדוגמה, התלמידים בחרו בתשובה יצחק אבינו</a:t>
            </a:r>
          </a:p>
        </p:txBody>
      </p:sp>
      <p:pic>
        <p:nvPicPr>
          <p:cNvPr id="3" name="תמונה 2" descr="תמונה שמכילה טקסט, צילום מסך, תוכנה, סמל מחש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9C3BE7CD-617C-A70F-8257-0B621596B5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273" r="1250" b="11313"/>
          <a:stretch>
            <a:fillRect/>
          </a:stretch>
        </p:blipFill>
        <p:spPr>
          <a:xfrm>
            <a:off x="637309" y="234038"/>
            <a:ext cx="10917382" cy="45654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מעגל: חלול 3">
            <a:extLst>
              <a:ext uri="{FF2B5EF4-FFF2-40B4-BE49-F238E27FC236}">
                <a16:creationId xmlns:a16="http://schemas.microsoft.com/office/drawing/2014/main" id="{F4127562-9587-621E-1C3D-DC2A741DB1BA}"/>
              </a:ext>
            </a:extLst>
          </p:cNvPr>
          <p:cNvSpPr/>
          <p:nvPr/>
        </p:nvSpPr>
        <p:spPr>
          <a:xfrm>
            <a:off x="7215950" y="3167654"/>
            <a:ext cx="2250722" cy="365127"/>
          </a:xfrm>
          <a:prstGeom prst="donut">
            <a:avLst>
              <a:gd name="adj" fmla="val 0"/>
            </a:avLst>
          </a:prstGeom>
          <a:solidFill>
            <a:schemeClr val="accent3">
              <a:lumMod val="75000"/>
              <a:lumOff val="2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  <p:cxnSp>
        <p:nvCxnSpPr>
          <p:cNvPr id="8" name="מחבר: מעוקל 7">
            <a:extLst>
              <a:ext uri="{FF2B5EF4-FFF2-40B4-BE49-F238E27FC236}">
                <a16:creationId xmlns:a16="http://schemas.microsoft.com/office/drawing/2014/main" id="{BF2D90DC-EC08-24EC-2F17-65296D8FA58A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585967" y="4045794"/>
            <a:ext cx="1475967" cy="449943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>
                <a:alpha val="6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71674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A8038-D2A9-5B10-48CE-F645A2734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מלבן 5">
            <a:extLst>
              <a:ext uri="{FF2B5EF4-FFF2-40B4-BE49-F238E27FC236}">
                <a16:creationId xmlns:a16="http://schemas.microsoft.com/office/drawing/2014/main" id="{1796C710-4AFC-26EC-C1F8-007DF5C6751E}"/>
              </a:ext>
            </a:extLst>
          </p:cNvPr>
          <p:cNvSpPr/>
          <p:nvPr/>
        </p:nvSpPr>
        <p:spPr>
          <a:xfrm>
            <a:off x="738132" y="4881258"/>
            <a:ext cx="10715733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מענה </a:t>
            </a:r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שגוי</a:t>
            </a:r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 על השאלה – מה עושים</a:t>
            </a:r>
            <a:endParaRPr lang="he-IL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Abraham" panose="00000500000000000000" pitchFamily="2" charset="-79"/>
              <a:cs typeface="Abraham" panose="00000500000000000000" pitchFamily="2" charset="-79"/>
            </a:endParaRP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F81E0319-BCCB-C438-1A91-913D25119382}"/>
              </a:ext>
            </a:extLst>
          </p:cNvPr>
          <p:cNvSpPr/>
          <p:nvPr/>
        </p:nvSpPr>
        <p:spPr>
          <a:xfrm>
            <a:off x="255494" y="5650699"/>
            <a:ext cx="11681011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2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במקרה כזה עליכם ללחוץ על "המשך" למטה, השאלה תיעלם לבחירה בלוח והקבוצה לא תקבל את הנקודות. </a:t>
            </a:r>
            <a:br>
              <a:rPr lang="en-US" sz="2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</a:br>
            <a:r>
              <a:rPr lang="he-IL" sz="2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שימו לב – אל תלחצו בשלב זה על "סגור" , כי אז השאלה לא תסומן </a:t>
            </a:r>
            <a:r>
              <a:rPr lang="he-IL" sz="2400" b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כנעשתה</a:t>
            </a:r>
            <a:r>
              <a:rPr lang="en-US" sz="2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 </a:t>
            </a:r>
            <a:endParaRPr lang="he-IL" sz="2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braham" panose="00000500000000000000" pitchFamily="2" charset="-79"/>
              <a:cs typeface="Abraham" panose="00000500000000000000" pitchFamily="2" charset="-79"/>
            </a:endParaRPr>
          </a:p>
        </p:txBody>
      </p:sp>
      <p:pic>
        <p:nvPicPr>
          <p:cNvPr id="3" name="תמונה 2" descr="תמונה שמכילה טקסט, צילום מסך, תוכנה, סמל מחש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0A12A474-4E95-222C-D8B6-5296B70102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273" r="1250" b="11313"/>
          <a:stretch>
            <a:fillRect/>
          </a:stretch>
        </p:blipFill>
        <p:spPr>
          <a:xfrm>
            <a:off x="637309" y="234038"/>
            <a:ext cx="10917382" cy="45654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מעגל: חלול 3">
            <a:extLst>
              <a:ext uri="{FF2B5EF4-FFF2-40B4-BE49-F238E27FC236}">
                <a16:creationId xmlns:a16="http://schemas.microsoft.com/office/drawing/2014/main" id="{050A9859-08C9-8C0A-533A-469E0B52D7EF}"/>
              </a:ext>
            </a:extLst>
          </p:cNvPr>
          <p:cNvSpPr/>
          <p:nvPr/>
        </p:nvSpPr>
        <p:spPr>
          <a:xfrm>
            <a:off x="6703684" y="3926990"/>
            <a:ext cx="2250722" cy="365127"/>
          </a:xfrm>
          <a:prstGeom prst="donut">
            <a:avLst>
              <a:gd name="adj" fmla="val 0"/>
            </a:avLst>
          </a:prstGeom>
          <a:solidFill>
            <a:schemeClr val="accent3">
              <a:lumMod val="75000"/>
              <a:lumOff val="2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  <p:cxnSp>
        <p:nvCxnSpPr>
          <p:cNvPr id="8" name="מחבר: מעוקל 7">
            <a:extLst>
              <a:ext uri="{FF2B5EF4-FFF2-40B4-BE49-F238E27FC236}">
                <a16:creationId xmlns:a16="http://schemas.microsoft.com/office/drawing/2014/main" id="{5A55F327-300E-6BA7-666D-9CD9C740E94D}"/>
              </a:ext>
            </a:extLst>
          </p:cNvPr>
          <p:cNvCxnSpPr>
            <a:cxnSpLocks/>
          </p:cNvCxnSpPr>
          <p:nvPr/>
        </p:nvCxnSpPr>
        <p:spPr>
          <a:xfrm rot="16200000" flipV="1">
            <a:off x="8316000" y="4399198"/>
            <a:ext cx="1276813" cy="1226189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>
                <a:alpha val="6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77370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3B063-3494-9C56-7974-F3D5056DD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 descr="תמונה שמכילה טקסט, צילום מסך, תוכנה, סמל מחש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190F08B0-B45D-7A84-CD25-1B2FDBD97A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117" r="1215" b="5882"/>
          <a:stretch>
            <a:fillRect/>
          </a:stretch>
        </p:blipFill>
        <p:spPr>
          <a:xfrm>
            <a:off x="1246337" y="458421"/>
            <a:ext cx="9699315" cy="44183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מלבן 5">
            <a:extLst>
              <a:ext uri="{FF2B5EF4-FFF2-40B4-BE49-F238E27FC236}">
                <a16:creationId xmlns:a16="http://schemas.microsoft.com/office/drawing/2014/main" id="{17CD5A7B-F03E-71A0-8075-FEC354194ADD}"/>
              </a:ext>
            </a:extLst>
          </p:cNvPr>
          <p:cNvSpPr/>
          <p:nvPr/>
        </p:nvSpPr>
        <p:spPr>
          <a:xfrm>
            <a:off x="738130" y="4979600"/>
            <a:ext cx="10715733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מענה </a:t>
            </a:r>
            <a:r>
              <a:rPr lang="he-IL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נכון</a:t>
            </a:r>
            <a:r>
              <a:rPr lang="he-IL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 על השאלה</a:t>
            </a:r>
            <a:endParaRPr lang="he-IL" sz="4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Abraham" panose="00000500000000000000" pitchFamily="2" charset="-79"/>
              <a:cs typeface="Abraham" panose="00000500000000000000" pitchFamily="2" charset="-79"/>
            </a:endParaRP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22A4A40C-F80C-B4CE-7FD8-C25FD13DA7BA}"/>
              </a:ext>
            </a:extLst>
          </p:cNvPr>
          <p:cNvSpPr/>
          <p:nvPr/>
        </p:nvSpPr>
        <p:spPr>
          <a:xfrm>
            <a:off x="255490" y="5714707"/>
            <a:ext cx="11681011" cy="9541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2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לעומת זאת אם התלמידים ענו נכון על השאלה ולחצו על אברהם אבינו, השאלה תיסגר והניקוד יתווסף אוטומטית לקבוצה שהגיע התור שלה.</a:t>
            </a:r>
            <a:endParaRPr lang="he-IL" sz="2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braham" panose="00000500000000000000" pitchFamily="2" charset="-79"/>
              <a:cs typeface="Abraham" panose="00000500000000000000" pitchFamily="2" charset="-79"/>
            </a:endParaRPr>
          </a:p>
        </p:txBody>
      </p:sp>
      <p:sp>
        <p:nvSpPr>
          <p:cNvPr id="2" name="מעגל: חלול 1">
            <a:extLst>
              <a:ext uri="{FF2B5EF4-FFF2-40B4-BE49-F238E27FC236}">
                <a16:creationId xmlns:a16="http://schemas.microsoft.com/office/drawing/2014/main" id="{45B7B349-52FA-349B-A104-7AFCECEE8B36}"/>
              </a:ext>
            </a:extLst>
          </p:cNvPr>
          <p:cNvSpPr/>
          <p:nvPr/>
        </p:nvSpPr>
        <p:spPr>
          <a:xfrm>
            <a:off x="6442427" y="2439328"/>
            <a:ext cx="2250722" cy="365127"/>
          </a:xfrm>
          <a:prstGeom prst="donut">
            <a:avLst>
              <a:gd name="adj" fmla="val 0"/>
            </a:avLst>
          </a:prstGeom>
          <a:solidFill>
            <a:schemeClr val="accent3">
              <a:lumMod val="75000"/>
              <a:lumOff val="2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  <p:cxnSp>
        <p:nvCxnSpPr>
          <p:cNvPr id="3" name="מחבר: מעוקל 2">
            <a:extLst>
              <a:ext uri="{FF2B5EF4-FFF2-40B4-BE49-F238E27FC236}">
                <a16:creationId xmlns:a16="http://schemas.microsoft.com/office/drawing/2014/main" id="{CA4C9CD0-6058-076C-FB6E-13A9C2AE57DC}"/>
              </a:ext>
            </a:extLst>
          </p:cNvPr>
          <p:cNvCxnSpPr>
            <a:cxnSpLocks/>
          </p:cNvCxnSpPr>
          <p:nvPr/>
        </p:nvCxnSpPr>
        <p:spPr>
          <a:xfrm rot="16200000" flipV="1">
            <a:off x="6832106" y="3718664"/>
            <a:ext cx="2213657" cy="513937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>
                <a:alpha val="6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41475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36339-00F0-3546-820B-9512D64B8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מלבן 5">
            <a:extLst>
              <a:ext uri="{FF2B5EF4-FFF2-40B4-BE49-F238E27FC236}">
                <a16:creationId xmlns:a16="http://schemas.microsoft.com/office/drawing/2014/main" id="{4FCAD4F5-CB09-9AB7-F1DC-C3B345C5A6CA}"/>
              </a:ext>
            </a:extLst>
          </p:cNvPr>
          <p:cNvSpPr/>
          <p:nvPr/>
        </p:nvSpPr>
        <p:spPr>
          <a:xfrm>
            <a:off x="738130" y="4979600"/>
            <a:ext cx="10715733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מענה </a:t>
            </a:r>
            <a:r>
              <a:rPr lang="he-IL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נכון</a:t>
            </a:r>
            <a:r>
              <a:rPr lang="he-IL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 על השאלה</a:t>
            </a:r>
            <a:endParaRPr lang="he-IL" sz="4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Abraham" panose="00000500000000000000" pitchFamily="2" charset="-79"/>
              <a:cs typeface="Abraham" panose="00000500000000000000" pitchFamily="2" charset="-79"/>
            </a:endParaRP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4875FAE9-677F-DDA7-9C50-C468955D812F}"/>
              </a:ext>
            </a:extLst>
          </p:cNvPr>
          <p:cNvSpPr/>
          <p:nvPr/>
        </p:nvSpPr>
        <p:spPr>
          <a:xfrm>
            <a:off x="255490" y="5714707"/>
            <a:ext cx="11681011" cy="9541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2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כך זה נראה. אפשר לראות שקבוצה 1 קיבלה 10 נקודות על השאלה, והתשובה בלוח מסומנת בצבע הקבוצה – כחול. בשלב זה התור עבר לקבוצה 2.</a:t>
            </a:r>
            <a:endParaRPr lang="he-IL" sz="2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braham" panose="00000500000000000000" pitchFamily="2" charset="-79"/>
              <a:cs typeface="Abraham" panose="00000500000000000000" pitchFamily="2" charset="-79"/>
            </a:endParaRPr>
          </a:p>
        </p:txBody>
      </p:sp>
      <p:pic>
        <p:nvPicPr>
          <p:cNvPr id="8" name="תמונה 7" descr="תמונה שמכילה טקסט, חשמל, צילום מסך, תוכנ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9BAB9D4A-9464-E444-20B7-4D480271F1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54" t="22223" r="7935" b="8599"/>
          <a:stretch>
            <a:fillRect/>
          </a:stretch>
        </p:blipFill>
        <p:spPr>
          <a:xfrm>
            <a:off x="1097929" y="346054"/>
            <a:ext cx="9996131" cy="45224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מעגל: חלול 8">
            <a:extLst>
              <a:ext uri="{FF2B5EF4-FFF2-40B4-BE49-F238E27FC236}">
                <a16:creationId xmlns:a16="http://schemas.microsoft.com/office/drawing/2014/main" id="{DCB1BA96-B4EB-1A5D-0376-42A37DC83384}"/>
              </a:ext>
            </a:extLst>
          </p:cNvPr>
          <p:cNvSpPr/>
          <p:nvPr/>
        </p:nvSpPr>
        <p:spPr>
          <a:xfrm>
            <a:off x="9723665" y="1047403"/>
            <a:ext cx="1325492" cy="365127"/>
          </a:xfrm>
          <a:prstGeom prst="donut">
            <a:avLst>
              <a:gd name="adj" fmla="val 6656"/>
            </a:avLst>
          </a:prstGeom>
          <a:solidFill>
            <a:schemeClr val="accent3">
              <a:lumMod val="75000"/>
              <a:lumOff val="2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  <p:sp>
        <p:nvSpPr>
          <p:cNvPr id="10" name="מעגל: חלול 9">
            <a:extLst>
              <a:ext uri="{FF2B5EF4-FFF2-40B4-BE49-F238E27FC236}">
                <a16:creationId xmlns:a16="http://schemas.microsoft.com/office/drawing/2014/main" id="{29AD1810-361D-3F0E-79A0-B8702BD3D501}"/>
              </a:ext>
            </a:extLst>
          </p:cNvPr>
          <p:cNvSpPr/>
          <p:nvPr/>
        </p:nvSpPr>
        <p:spPr>
          <a:xfrm>
            <a:off x="6927396" y="869496"/>
            <a:ext cx="1563461" cy="771525"/>
          </a:xfrm>
          <a:prstGeom prst="donut">
            <a:avLst>
              <a:gd name="adj" fmla="val 1889"/>
            </a:avLst>
          </a:prstGeom>
          <a:solidFill>
            <a:schemeClr val="accent3">
              <a:lumMod val="75000"/>
              <a:lumOff val="2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40743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BF8D3-1E52-38E0-CFF2-5CCB4FCAC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מלבן 5">
            <a:extLst>
              <a:ext uri="{FF2B5EF4-FFF2-40B4-BE49-F238E27FC236}">
                <a16:creationId xmlns:a16="http://schemas.microsoft.com/office/drawing/2014/main" id="{E6279971-524A-2E73-3FEF-6BE18EF688BB}"/>
              </a:ext>
            </a:extLst>
          </p:cNvPr>
          <p:cNvSpPr/>
          <p:nvPr/>
        </p:nvSpPr>
        <p:spPr>
          <a:xfrm>
            <a:off x="738125" y="4848795"/>
            <a:ext cx="10715733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שאלה לדוגמה – שאלה רגילה, שאלה פתוחה</a:t>
            </a:r>
            <a:endParaRPr lang="he-IL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Abraham" panose="00000500000000000000" pitchFamily="2" charset="-79"/>
              <a:cs typeface="Abraham" panose="00000500000000000000" pitchFamily="2" charset="-79"/>
            </a:endParaRP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62D2519B-BA79-FB06-4B1D-6E5CDEE2D2BB}"/>
              </a:ext>
            </a:extLst>
          </p:cNvPr>
          <p:cNvSpPr/>
          <p:nvPr/>
        </p:nvSpPr>
        <p:spPr>
          <a:xfrm>
            <a:off x="255485" y="5618236"/>
            <a:ext cx="11681011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2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גם כאן כשהשאלה מוצגת בפני הכיתה, הם יכולים לענות את התשובה או להיעזר באחד מגלגלי ההצלה. </a:t>
            </a:r>
          </a:p>
        </p:txBody>
      </p:sp>
      <p:pic>
        <p:nvPicPr>
          <p:cNvPr id="3" name="תמונה 2" descr="תמונה שמכילה טקסט, תוכנה, צילום מסך, תכונות מולטימדי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60E4392D-7470-A3FE-30D4-CA4A056748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074" r="1333" b="8296"/>
          <a:stretch>
            <a:fillRect/>
          </a:stretch>
        </p:blipFill>
        <p:spPr>
          <a:xfrm>
            <a:off x="1320792" y="429738"/>
            <a:ext cx="9550400" cy="42266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305576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777B0-6200-407D-75F2-76636D850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מלבן 5">
            <a:extLst>
              <a:ext uri="{FF2B5EF4-FFF2-40B4-BE49-F238E27FC236}">
                <a16:creationId xmlns:a16="http://schemas.microsoft.com/office/drawing/2014/main" id="{35C1B827-E763-CF91-884A-E29CC006BA0B}"/>
              </a:ext>
            </a:extLst>
          </p:cNvPr>
          <p:cNvSpPr/>
          <p:nvPr/>
        </p:nvSpPr>
        <p:spPr>
          <a:xfrm>
            <a:off x="738125" y="4848795"/>
            <a:ext cx="10715733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שאלה לדוגמה – שאלה רגילה, שאלה פתוחה</a:t>
            </a:r>
            <a:endParaRPr lang="he-IL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Abraham" panose="00000500000000000000" pitchFamily="2" charset="-79"/>
              <a:cs typeface="Abraham" panose="00000500000000000000" pitchFamily="2" charset="-79"/>
            </a:endParaRP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7506D331-AA9C-7899-39CB-43275E301864}"/>
              </a:ext>
            </a:extLst>
          </p:cNvPr>
          <p:cNvSpPr/>
          <p:nvPr/>
        </p:nvSpPr>
        <p:spPr>
          <a:xfrm>
            <a:off x="1" y="5618236"/>
            <a:ext cx="12192000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20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כאן לעומת זאת לאחר המענה, הבחירה היא שלכם האם הם צדקו או לא, ועליכם ללחוץ למטה האם לתת נקודות לקבוצה או לא לתת נקודות</a:t>
            </a:r>
            <a:br>
              <a:rPr lang="en-US" sz="20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</a:br>
            <a:r>
              <a:rPr lang="he-IL" sz="20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אם אתם לא זוכרים את התשובה, או שאתם רוצים שהתלמידים יגלו על הלוח אם הם צדקו- לחצו על הצג תשובה</a:t>
            </a:r>
            <a:endParaRPr lang="he-IL" sz="2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braham" panose="00000500000000000000" pitchFamily="2" charset="-79"/>
              <a:cs typeface="Abraham" panose="00000500000000000000" pitchFamily="2" charset="-79"/>
            </a:endParaRPr>
          </a:p>
        </p:txBody>
      </p:sp>
      <p:pic>
        <p:nvPicPr>
          <p:cNvPr id="3" name="תמונה 2" descr="תמונה שמכילה טקסט, תוכנה, צילום מסך, תכונות מולטימדי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9DD8BFE2-E7AA-89EF-5C95-D1F87AF713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074" r="1333" b="8296"/>
          <a:stretch>
            <a:fillRect/>
          </a:stretch>
        </p:blipFill>
        <p:spPr>
          <a:xfrm>
            <a:off x="1320792" y="429738"/>
            <a:ext cx="9550400" cy="42266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מעגל: חלול 1">
            <a:extLst>
              <a:ext uri="{FF2B5EF4-FFF2-40B4-BE49-F238E27FC236}">
                <a16:creationId xmlns:a16="http://schemas.microsoft.com/office/drawing/2014/main" id="{ED0C3A38-3552-41F7-0EA7-F7A1471FC63D}"/>
              </a:ext>
            </a:extLst>
          </p:cNvPr>
          <p:cNvSpPr/>
          <p:nvPr/>
        </p:nvSpPr>
        <p:spPr>
          <a:xfrm>
            <a:off x="6398884" y="3924766"/>
            <a:ext cx="2250722" cy="365127"/>
          </a:xfrm>
          <a:prstGeom prst="donut">
            <a:avLst>
              <a:gd name="adj" fmla="val 0"/>
            </a:avLst>
          </a:prstGeom>
          <a:solidFill>
            <a:schemeClr val="accent3">
              <a:lumMod val="75000"/>
              <a:lumOff val="2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  <p:cxnSp>
        <p:nvCxnSpPr>
          <p:cNvPr id="4" name="מחבר: מעוקל 3">
            <a:extLst>
              <a:ext uri="{FF2B5EF4-FFF2-40B4-BE49-F238E27FC236}">
                <a16:creationId xmlns:a16="http://schemas.microsoft.com/office/drawing/2014/main" id="{5BFAC8C5-EA37-2CF0-F9FD-AF5E1F2F9411}"/>
              </a:ext>
            </a:extLst>
          </p:cNvPr>
          <p:cNvCxnSpPr>
            <a:cxnSpLocks/>
          </p:cNvCxnSpPr>
          <p:nvPr/>
        </p:nvCxnSpPr>
        <p:spPr>
          <a:xfrm rot="16200000" flipV="1">
            <a:off x="8011200" y="4396974"/>
            <a:ext cx="1276813" cy="1226189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>
                <a:alpha val="6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מעגל: חלול 8">
            <a:extLst>
              <a:ext uri="{FF2B5EF4-FFF2-40B4-BE49-F238E27FC236}">
                <a16:creationId xmlns:a16="http://schemas.microsoft.com/office/drawing/2014/main" id="{1A083F0B-980E-9B74-BFCF-AE6DCA1ED2B4}"/>
              </a:ext>
            </a:extLst>
          </p:cNvPr>
          <p:cNvSpPr/>
          <p:nvPr/>
        </p:nvSpPr>
        <p:spPr>
          <a:xfrm>
            <a:off x="3133433" y="3570237"/>
            <a:ext cx="838673" cy="440989"/>
          </a:xfrm>
          <a:prstGeom prst="donut">
            <a:avLst>
              <a:gd name="adj" fmla="val 0"/>
            </a:avLst>
          </a:prstGeom>
          <a:solidFill>
            <a:schemeClr val="accent3">
              <a:lumMod val="75000"/>
              <a:lumOff val="2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  <p:cxnSp>
        <p:nvCxnSpPr>
          <p:cNvPr id="10" name="מחבר: מעוקל 9">
            <a:extLst>
              <a:ext uri="{FF2B5EF4-FFF2-40B4-BE49-F238E27FC236}">
                <a16:creationId xmlns:a16="http://schemas.microsoft.com/office/drawing/2014/main" id="{D6095AD9-A345-2C30-40D6-D93A78E1AE4B}"/>
              </a:ext>
            </a:extLst>
          </p:cNvPr>
          <p:cNvCxnSpPr>
            <a:cxnSpLocks/>
          </p:cNvCxnSpPr>
          <p:nvPr/>
        </p:nvCxnSpPr>
        <p:spPr>
          <a:xfrm flipV="1">
            <a:off x="582649" y="3790731"/>
            <a:ext cx="2550784" cy="2482250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>
                <a:alpha val="6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45269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D6192-154D-F279-6043-7074780DD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מלבן 5">
            <a:extLst>
              <a:ext uri="{FF2B5EF4-FFF2-40B4-BE49-F238E27FC236}">
                <a16:creationId xmlns:a16="http://schemas.microsoft.com/office/drawing/2014/main" id="{1ABDE428-6A99-3984-BAE9-B26A369BDD74}"/>
              </a:ext>
            </a:extLst>
          </p:cNvPr>
          <p:cNvSpPr/>
          <p:nvPr/>
        </p:nvSpPr>
        <p:spPr>
          <a:xfrm>
            <a:off x="738130" y="4979600"/>
            <a:ext cx="10715733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מענה </a:t>
            </a:r>
            <a:r>
              <a:rPr lang="he-IL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נכון</a:t>
            </a:r>
            <a:r>
              <a:rPr lang="he-IL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 על השאלה</a:t>
            </a:r>
            <a:endParaRPr lang="he-IL" sz="4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Abraham" panose="00000500000000000000" pitchFamily="2" charset="-79"/>
              <a:cs typeface="Abraham" panose="00000500000000000000" pitchFamily="2" charset="-79"/>
            </a:endParaRP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83BAF556-B3C9-9051-EF72-17D88334F84A}"/>
              </a:ext>
            </a:extLst>
          </p:cNvPr>
          <p:cNvSpPr/>
          <p:nvPr/>
        </p:nvSpPr>
        <p:spPr>
          <a:xfrm>
            <a:off x="255490" y="5714707"/>
            <a:ext cx="11681011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2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גם כאן הניקוד יתווסף בצד ימין והצבע על הלוח יצבע בצבע הקבוצה</a:t>
            </a:r>
            <a:endParaRPr lang="he-IL" sz="2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braham" panose="00000500000000000000" pitchFamily="2" charset="-79"/>
              <a:cs typeface="Abraham" panose="00000500000000000000" pitchFamily="2" charset="-79"/>
            </a:endParaRPr>
          </a:p>
        </p:txBody>
      </p:sp>
      <p:pic>
        <p:nvPicPr>
          <p:cNvPr id="3" name="תמונה 2" descr="תמונה שמכילה טקסט, חשמל, צילום מסך, תוכנ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2DB231D6-1DE6-9E24-B529-5A448FCF42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050" r="1129" b="5950"/>
          <a:stretch>
            <a:fillRect/>
          </a:stretch>
        </p:blipFill>
        <p:spPr>
          <a:xfrm>
            <a:off x="1234162" y="402681"/>
            <a:ext cx="9723665" cy="4425617"/>
          </a:xfrm>
          <a:prstGeom prst="rect">
            <a:avLst/>
          </a:prstGeom>
        </p:spPr>
      </p:pic>
      <p:sp>
        <p:nvSpPr>
          <p:cNvPr id="4" name="מעגל: חלול 3">
            <a:extLst>
              <a:ext uri="{FF2B5EF4-FFF2-40B4-BE49-F238E27FC236}">
                <a16:creationId xmlns:a16="http://schemas.microsoft.com/office/drawing/2014/main" id="{91E00470-CFE5-7ED8-3FA6-F49A8F63620D}"/>
              </a:ext>
            </a:extLst>
          </p:cNvPr>
          <p:cNvSpPr/>
          <p:nvPr/>
        </p:nvSpPr>
        <p:spPr>
          <a:xfrm>
            <a:off x="3854244" y="1789471"/>
            <a:ext cx="1288728" cy="564389"/>
          </a:xfrm>
          <a:prstGeom prst="donut">
            <a:avLst>
              <a:gd name="adj" fmla="val 1889"/>
            </a:avLst>
          </a:prstGeom>
          <a:solidFill>
            <a:schemeClr val="accent3">
              <a:lumMod val="75000"/>
              <a:lumOff val="2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  <p:sp>
        <p:nvSpPr>
          <p:cNvPr id="5" name="מעגל: חלול 4">
            <a:extLst>
              <a:ext uri="{FF2B5EF4-FFF2-40B4-BE49-F238E27FC236}">
                <a16:creationId xmlns:a16="http://schemas.microsoft.com/office/drawing/2014/main" id="{5A0A402A-66EB-2B7A-1890-883EBCADCD60}"/>
              </a:ext>
            </a:extLst>
          </p:cNvPr>
          <p:cNvSpPr/>
          <p:nvPr/>
        </p:nvSpPr>
        <p:spPr>
          <a:xfrm>
            <a:off x="8921205" y="1789471"/>
            <a:ext cx="1288728" cy="282194"/>
          </a:xfrm>
          <a:prstGeom prst="donut">
            <a:avLst>
              <a:gd name="adj" fmla="val 1889"/>
            </a:avLst>
          </a:prstGeom>
          <a:solidFill>
            <a:schemeClr val="accent3">
              <a:lumMod val="75000"/>
              <a:lumOff val="2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57971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7880B-4BCD-26EF-B143-01A0C87CB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מלבן 5">
            <a:extLst>
              <a:ext uri="{FF2B5EF4-FFF2-40B4-BE49-F238E27FC236}">
                <a16:creationId xmlns:a16="http://schemas.microsoft.com/office/drawing/2014/main" id="{E2231E6B-8EBE-E42D-2801-0B12895C592D}"/>
              </a:ext>
            </a:extLst>
          </p:cNvPr>
          <p:cNvSpPr/>
          <p:nvPr/>
        </p:nvSpPr>
        <p:spPr>
          <a:xfrm>
            <a:off x="-71119" y="4848795"/>
            <a:ext cx="1226312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שאלה לדוגמה – שאלה רגילה, שאלה פתוחה עם שמע</a:t>
            </a:r>
            <a:endParaRPr lang="he-IL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Abraham" panose="00000500000000000000" pitchFamily="2" charset="-79"/>
              <a:cs typeface="Abraham" panose="00000500000000000000" pitchFamily="2" charset="-79"/>
            </a:endParaRP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E2A970BA-7FA6-4C93-391B-5508283B4537}"/>
              </a:ext>
            </a:extLst>
          </p:cNvPr>
          <p:cNvSpPr/>
          <p:nvPr/>
        </p:nvSpPr>
        <p:spPr>
          <a:xfrm>
            <a:off x="255485" y="5618236"/>
            <a:ext cx="11681011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2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שאלה זו לדוגמה, עובדת בדיוק כמו שאלה פתוחה רגילה, רק שכאן עליכם להפעיל בצד את השמע, ולפיו התלמידים עונים על השאלה.</a:t>
            </a:r>
          </a:p>
        </p:txBody>
      </p:sp>
      <p:pic>
        <p:nvPicPr>
          <p:cNvPr id="4" name="תמונה 3" descr="תמונה שמכילה טקסט, צילום מסך, תוכנה, סמל מחש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CC04EB32-9AE0-F915-C901-54362BB804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520" r="1166" b="5960"/>
          <a:stretch>
            <a:fillRect/>
          </a:stretch>
        </p:blipFill>
        <p:spPr>
          <a:xfrm>
            <a:off x="1381750" y="497841"/>
            <a:ext cx="9428480" cy="42671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922337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FF39A-6FF6-D0FB-2BDD-85C32A954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מלבן 5">
            <a:extLst>
              <a:ext uri="{FF2B5EF4-FFF2-40B4-BE49-F238E27FC236}">
                <a16:creationId xmlns:a16="http://schemas.microsoft.com/office/drawing/2014/main" id="{B984B1B0-C91D-CAC5-90FA-8375F7B47F25}"/>
              </a:ext>
            </a:extLst>
          </p:cNvPr>
          <p:cNvSpPr/>
          <p:nvPr/>
        </p:nvSpPr>
        <p:spPr>
          <a:xfrm>
            <a:off x="738124" y="4353447"/>
            <a:ext cx="10715733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שאלת דו - קרב</a:t>
            </a:r>
            <a:endParaRPr lang="he-IL" sz="4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Abraham" panose="00000500000000000000" pitchFamily="2" charset="-79"/>
              <a:cs typeface="Abraham" panose="00000500000000000000" pitchFamily="2" charset="-79"/>
            </a:endParaRP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2C1258DD-81F9-8655-4A1B-2BC2EB815371}"/>
              </a:ext>
            </a:extLst>
          </p:cNvPr>
          <p:cNvSpPr/>
          <p:nvPr/>
        </p:nvSpPr>
        <p:spPr>
          <a:xfrm>
            <a:off x="255484" y="5184444"/>
            <a:ext cx="11681011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2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ברגע שהתלמידים לוחצים על שאלה מסוג "דו-קרב" נפתח המסך הנוכחי.</a:t>
            </a:r>
            <a:br>
              <a:rPr lang="en-US" sz="2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</a:br>
            <a:r>
              <a:rPr lang="he-IL" sz="2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ברגע שכל הקבוצות ב"היכון" , אפשר ללחוץ על הצג שאלה.</a:t>
            </a:r>
            <a:br>
              <a:rPr lang="en-US" sz="2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</a:br>
            <a:r>
              <a:rPr lang="he-IL" sz="2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שימו לב </a:t>
            </a:r>
            <a:r>
              <a:rPr lang="he-IL" sz="2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– לרוב בשאלות דו – קרב צריך עזרים. לכן ברגע שיש שאלה כזו, תדאגו לשים לב שלכל קבוצה כבר יש דף ועט</a:t>
            </a:r>
            <a:endParaRPr lang="he-IL" sz="2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braham" panose="00000500000000000000" pitchFamily="2" charset="-79"/>
              <a:cs typeface="Abraham" panose="00000500000000000000" pitchFamily="2" charset="-79"/>
            </a:endParaRPr>
          </a:p>
        </p:txBody>
      </p:sp>
      <p:pic>
        <p:nvPicPr>
          <p:cNvPr id="5" name="תמונה 4" descr="תמונה שמכילה טקסט, צילום מסך, תוכנה, תכונות מולטימדי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1A56F9FB-37C1-46E1-830F-31A90B5794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629" r="1333" b="5482"/>
          <a:stretch>
            <a:fillRect/>
          </a:stretch>
        </p:blipFill>
        <p:spPr>
          <a:xfrm>
            <a:off x="1569709" y="257125"/>
            <a:ext cx="9052565" cy="417457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מעגל: חלול 10">
            <a:extLst>
              <a:ext uri="{FF2B5EF4-FFF2-40B4-BE49-F238E27FC236}">
                <a16:creationId xmlns:a16="http://schemas.microsoft.com/office/drawing/2014/main" id="{3BC2F412-8EF6-F8D3-D02A-1351C9D1251A}"/>
              </a:ext>
            </a:extLst>
          </p:cNvPr>
          <p:cNvSpPr/>
          <p:nvPr/>
        </p:nvSpPr>
        <p:spPr>
          <a:xfrm>
            <a:off x="8016240" y="3768951"/>
            <a:ext cx="650240" cy="416251"/>
          </a:xfrm>
          <a:prstGeom prst="donut">
            <a:avLst>
              <a:gd name="adj" fmla="val 1889"/>
            </a:avLst>
          </a:prstGeom>
          <a:solidFill>
            <a:schemeClr val="accent3">
              <a:lumMod val="75000"/>
              <a:lumOff val="2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37954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E4A23-8010-5D56-572C-25788E19C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מלבן 5">
            <a:extLst>
              <a:ext uri="{FF2B5EF4-FFF2-40B4-BE49-F238E27FC236}">
                <a16:creationId xmlns:a16="http://schemas.microsoft.com/office/drawing/2014/main" id="{7DA99147-B2B2-3D71-5184-058E5E6CAC19}"/>
              </a:ext>
            </a:extLst>
          </p:cNvPr>
          <p:cNvSpPr/>
          <p:nvPr/>
        </p:nvSpPr>
        <p:spPr>
          <a:xfrm>
            <a:off x="738126" y="4257040"/>
            <a:ext cx="10715733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שאלת דו - קרב</a:t>
            </a:r>
            <a:endParaRPr lang="he-IL" sz="4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Abraham" panose="00000500000000000000" pitchFamily="2" charset="-79"/>
              <a:cs typeface="Abraham" panose="00000500000000000000" pitchFamily="2" charset="-79"/>
            </a:endParaRP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D354A579-368A-CE53-A5FF-557F786E11BB}"/>
              </a:ext>
            </a:extLst>
          </p:cNvPr>
          <p:cNvSpPr/>
          <p:nvPr/>
        </p:nvSpPr>
        <p:spPr>
          <a:xfrm>
            <a:off x="255486" y="5088037"/>
            <a:ext cx="11681011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2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ברגע שאמרתם "שלוש ארבע ו-" והשאלה התחילה, לחצו על כפתור "טיימר 60 שניות" והדקה תתחיל להיספר.</a:t>
            </a:r>
            <a:br>
              <a:rPr lang="en-US" sz="2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</a:br>
            <a:r>
              <a:rPr lang="he-IL" sz="2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בסוף, כשאספתם את הדפים מכולם, תצטרכו לעבור עליהם ולתת לכל קבוצה ניקוד בהתאם לכמות התשובות הנכונות שלה (על כל לחיצה הם יקבלו ניקוד על תשובה נכונה)</a:t>
            </a:r>
            <a:endParaRPr lang="he-IL" sz="2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braham" panose="00000500000000000000" pitchFamily="2" charset="-79"/>
              <a:cs typeface="Abraham" panose="00000500000000000000" pitchFamily="2" charset="-79"/>
            </a:endParaRPr>
          </a:p>
        </p:txBody>
      </p:sp>
      <p:pic>
        <p:nvPicPr>
          <p:cNvPr id="3" name="תמונה 2" descr="תמונה שמכילה טקסט, צילום מסך, תוכנה, סמל מחש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11EE0391-FE99-DEFD-B2FE-90D27BEB58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t="14222" r="917" b="13628"/>
          <a:stretch>
            <a:fillRect/>
          </a:stretch>
        </p:blipFill>
        <p:spPr>
          <a:xfrm>
            <a:off x="1041395" y="189186"/>
            <a:ext cx="9931405" cy="40678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מעגל: חלול 3">
            <a:extLst>
              <a:ext uri="{FF2B5EF4-FFF2-40B4-BE49-F238E27FC236}">
                <a16:creationId xmlns:a16="http://schemas.microsoft.com/office/drawing/2014/main" id="{EE056736-E5D4-25C3-EA43-4200B77A373C}"/>
              </a:ext>
            </a:extLst>
          </p:cNvPr>
          <p:cNvSpPr/>
          <p:nvPr/>
        </p:nvSpPr>
        <p:spPr>
          <a:xfrm>
            <a:off x="7254240" y="2271129"/>
            <a:ext cx="904240" cy="416251"/>
          </a:xfrm>
          <a:prstGeom prst="donut">
            <a:avLst>
              <a:gd name="adj" fmla="val 1889"/>
            </a:avLst>
          </a:prstGeom>
          <a:solidFill>
            <a:schemeClr val="accent3">
              <a:lumMod val="75000"/>
              <a:lumOff val="2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  <p:cxnSp>
        <p:nvCxnSpPr>
          <p:cNvPr id="8" name="מחבר: מעוקל 7">
            <a:extLst>
              <a:ext uri="{FF2B5EF4-FFF2-40B4-BE49-F238E27FC236}">
                <a16:creationId xmlns:a16="http://schemas.microsoft.com/office/drawing/2014/main" id="{6BEB3F2B-A32A-5EB3-1079-4C17CA4A94EF}"/>
              </a:ext>
            </a:extLst>
          </p:cNvPr>
          <p:cNvCxnSpPr>
            <a:cxnSpLocks/>
          </p:cNvCxnSpPr>
          <p:nvPr/>
        </p:nvCxnSpPr>
        <p:spPr>
          <a:xfrm flipV="1">
            <a:off x="2479040" y="2479254"/>
            <a:ext cx="4775200" cy="2608783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>
                <a:alpha val="6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47978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B259A-BF53-CE5A-DD2F-A98B1C562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מלבן 5">
            <a:extLst>
              <a:ext uri="{FF2B5EF4-FFF2-40B4-BE49-F238E27FC236}">
                <a16:creationId xmlns:a16="http://schemas.microsoft.com/office/drawing/2014/main" id="{19758D81-1CB5-7CF1-7D08-BD2539147657}"/>
              </a:ext>
            </a:extLst>
          </p:cNvPr>
          <p:cNvSpPr/>
          <p:nvPr/>
        </p:nvSpPr>
        <p:spPr>
          <a:xfrm>
            <a:off x="738126" y="4257040"/>
            <a:ext cx="10715733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שאלת דו - קרב</a:t>
            </a:r>
            <a:endParaRPr lang="he-IL" sz="4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Abraham" panose="00000500000000000000" pitchFamily="2" charset="-79"/>
              <a:cs typeface="Abraham" panose="00000500000000000000" pitchFamily="2" charset="-79"/>
            </a:endParaRP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1DA272C8-6F04-EB18-19B2-9C35E9CA38F3}"/>
              </a:ext>
            </a:extLst>
          </p:cNvPr>
          <p:cNvSpPr/>
          <p:nvPr/>
        </p:nvSpPr>
        <p:spPr>
          <a:xfrm>
            <a:off x="255486" y="5088037"/>
            <a:ext cx="11681011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2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כשסיימתם לתת את הניקוד למטה, לחצו על "סיום מתן ניקוד" והניקוד המעודכן יופיע בלוח</a:t>
            </a:r>
            <a:endParaRPr lang="he-IL" sz="2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braham" panose="00000500000000000000" pitchFamily="2" charset="-79"/>
              <a:cs typeface="Abraham" panose="00000500000000000000" pitchFamily="2" charset="-79"/>
            </a:endParaRPr>
          </a:p>
        </p:txBody>
      </p:sp>
      <p:pic>
        <p:nvPicPr>
          <p:cNvPr id="3" name="תמונה 2" descr="תמונה שמכילה טקסט, צילום מסך, תוכנה, סמל מחש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B0D0AD82-F30A-AA0D-4F54-E709B1738E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t="14222" r="917" b="13628"/>
          <a:stretch>
            <a:fillRect/>
          </a:stretch>
        </p:blipFill>
        <p:spPr>
          <a:xfrm>
            <a:off x="1041395" y="189186"/>
            <a:ext cx="9931405" cy="40678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מעגל: חלול 3">
            <a:extLst>
              <a:ext uri="{FF2B5EF4-FFF2-40B4-BE49-F238E27FC236}">
                <a16:creationId xmlns:a16="http://schemas.microsoft.com/office/drawing/2014/main" id="{E636AA75-0F6E-A1BE-350E-60ED2D64E8B3}"/>
              </a:ext>
            </a:extLst>
          </p:cNvPr>
          <p:cNvSpPr/>
          <p:nvPr/>
        </p:nvSpPr>
        <p:spPr>
          <a:xfrm>
            <a:off x="6467944" y="2271129"/>
            <a:ext cx="904240" cy="416251"/>
          </a:xfrm>
          <a:prstGeom prst="donut">
            <a:avLst>
              <a:gd name="adj" fmla="val 1889"/>
            </a:avLst>
          </a:prstGeom>
          <a:solidFill>
            <a:schemeClr val="accent3">
              <a:lumMod val="75000"/>
              <a:lumOff val="2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  <p:cxnSp>
        <p:nvCxnSpPr>
          <p:cNvPr id="8" name="מחבר: מעוקל 7">
            <a:extLst>
              <a:ext uri="{FF2B5EF4-FFF2-40B4-BE49-F238E27FC236}">
                <a16:creationId xmlns:a16="http://schemas.microsoft.com/office/drawing/2014/main" id="{ED19C9B4-64F9-9E80-43B7-AD46099CB456}"/>
              </a:ext>
            </a:extLst>
          </p:cNvPr>
          <p:cNvCxnSpPr>
            <a:cxnSpLocks/>
          </p:cNvCxnSpPr>
          <p:nvPr/>
        </p:nvCxnSpPr>
        <p:spPr>
          <a:xfrm flipV="1">
            <a:off x="2447925" y="2479254"/>
            <a:ext cx="4020019" cy="2608783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>
                <a:alpha val="6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89101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271B9-98AB-C159-E08D-9FE1602C0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מלבן 6">
            <a:extLst>
              <a:ext uri="{FF2B5EF4-FFF2-40B4-BE49-F238E27FC236}">
                <a16:creationId xmlns:a16="http://schemas.microsoft.com/office/drawing/2014/main" id="{17FC85DE-2EAF-1CCB-E201-21A65AEFDA16}"/>
              </a:ext>
            </a:extLst>
          </p:cNvPr>
          <p:cNvSpPr/>
          <p:nvPr/>
        </p:nvSpPr>
        <p:spPr>
          <a:xfrm>
            <a:off x="255494" y="5383807"/>
            <a:ext cx="11681011" cy="9541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2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שימו לב שבסוג שאלות כזה המשבצת תיצבע באפור, כיוון שכל אחת מהקבוצות מקבלת ניקוד ולכן אף אחת לא מקבלת צביעה בלוח</a:t>
            </a:r>
            <a:endParaRPr lang="he-IL" sz="2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braham" panose="00000500000000000000" pitchFamily="2" charset="-79"/>
              <a:cs typeface="Abraham" panose="00000500000000000000" pitchFamily="2" charset="-79"/>
            </a:endParaRPr>
          </a:p>
        </p:txBody>
      </p:sp>
      <p:pic>
        <p:nvPicPr>
          <p:cNvPr id="8" name="תמונה 7" descr="תמונה שמכילה טקסט, חשמל, צילום מסך, תוכנ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B26E83A5-C0C2-76CE-673E-476CC55215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833" r="1000" b="9042"/>
          <a:stretch>
            <a:fillRect/>
          </a:stretch>
        </p:blipFill>
        <p:spPr>
          <a:xfrm>
            <a:off x="902774" y="341692"/>
            <a:ext cx="10792408" cy="4729348"/>
          </a:xfrm>
          <a:prstGeom prst="rect">
            <a:avLst/>
          </a:prstGeom>
        </p:spPr>
      </p:pic>
      <p:sp>
        <p:nvSpPr>
          <p:cNvPr id="9" name="מעגל: חלול 8">
            <a:extLst>
              <a:ext uri="{FF2B5EF4-FFF2-40B4-BE49-F238E27FC236}">
                <a16:creationId xmlns:a16="http://schemas.microsoft.com/office/drawing/2014/main" id="{AC673D12-A7AA-9D29-B1E3-2A323307CCF7}"/>
              </a:ext>
            </a:extLst>
          </p:cNvPr>
          <p:cNvSpPr/>
          <p:nvPr/>
        </p:nvSpPr>
        <p:spPr>
          <a:xfrm>
            <a:off x="7100364" y="2424171"/>
            <a:ext cx="1288728" cy="564389"/>
          </a:xfrm>
          <a:prstGeom prst="donut">
            <a:avLst>
              <a:gd name="adj" fmla="val 1889"/>
            </a:avLst>
          </a:prstGeom>
          <a:solidFill>
            <a:schemeClr val="accent3">
              <a:lumMod val="75000"/>
              <a:lumOff val="2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  <p:sp>
        <p:nvSpPr>
          <p:cNvPr id="10" name="מעגל: חלול 9">
            <a:extLst>
              <a:ext uri="{FF2B5EF4-FFF2-40B4-BE49-F238E27FC236}">
                <a16:creationId xmlns:a16="http://schemas.microsoft.com/office/drawing/2014/main" id="{7C53CC62-9ADB-C01A-EE67-E95FB027763A}"/>
              </a:ext>
            </a:extLst>
          </p:cNvPr>
          <p:cNvSpPr/>
          <p:nvPr/>
        </p:nvSpPr>
        <p:spPr>
          <a:xfrm>
            <a:off x="9909809" y="1326171"/>
            <a:ext cx="948691" cy="1508469"/>
          </a:xfrm>
          <a:prstGeom prst="donut">
            <a:avLst>
              <a:gd name="adj" fmla="val 1889"/>
            </a:avLst>
          </a:prstGeom>
          <a:solidFill>
            <a:schemeClr val="accent3">
              <a:lumMod val="75000"/>
              <a:lumOff val="2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31865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961AC-AEFA-2FE7-AFCD-01B341FF9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מלבן 5">
            <a:extLst>
              <a:ext uri="{FF2B5EF4-FFF2-40B4-BE49-F238E27FC236}">
                <a16:creationId xmlns:a16="http://schemas.microsoft.com/office/drawing/2014/main" id="{6E83CD5B-2F28-B622-4EB0-070A1D5965E8}"/>
              </a:ext>
            </a:extLst>
          </p:cNvPr>
          <p:cNvSpPr/>
          <p:nvPr/>
        </p:nvSpPr>
        <p:spPr>
          <a:xfrm>
            <a:off x="738121" y="4595279"/>
            <a:ext cx="10715733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שאלות דו – קרב עם עזרים</a:t>
            </a:r>
            <a:endParaRPr lang="he-IL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Abraham" panose="00000500000000000000" pitchFamily="2" charset="-79"/>
              <a:cs typeface="Abraham" panose="00000500000000000000" pitchFamily="2" charset="-79"/>
            </a:endParaRP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43564565-56DD-98F1-7E6A-30342FC8A829}"/>
              </a:ext>
            </a:extLst>
          </p:cNvPr>
          <p:cNvSpPr/>
          <p:nvPr/>
        </p:nvSpPr>
        <p:spPr>
          <a:xfrm>
            <a:off x="255481" y="5381353"/>
            <a:ext cx="11681011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2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בשאלות האלו לדוגמה, כל קבוצה תצטרך לקבל מפה או 2 כרטיסיות, ולכן צריך להיערך מראש עם העזרים לדו-קרב</a:t>
            </a:r>
            <a:br>
              <a:rPr lang="en-US" sz="2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</a:br>
            <a:r>
              <a:rPr lang="he-IL" sz="2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(3 מפות, 6 כרטיסיות "נכון-לא נכון", ודפים לבנים ריקים)</a:t>
            </a:r>
            <a:endParaRPr lang="he-IL" sz="2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braham" panose="00000500000000000000" pitchFamily="2" charset="-79"/>
              <a:cs typeface="Abraham" panose="00000500000000000000" pitchFamily="2" charset="-79"/>
            </a:endParaRPr>
          </a:p>
        </p:txBody>
      </p:sp>
      <p:sp>
        <p:nvSpPr>
          <p:cNvPr id="4" name="מעגל: חלול 3">
            <a:extLst>
              <a:ext uri="{FF2B5EF4-FFF2-40B4-BE49-F238E27FC236}">
                <a16:creationId xmlns:a16="http://schemas.microsoft.com/office/drawing/2014/main" id="{6FB9527F-E17D-AE0C-5AB0-8D8F81B8160B}"/>
              </a:ext>
            </a:extLst>
          </p:cNvPr>
          <p:cNvSpPr/>
          <p:nvPr/>
        </p:nvSpPr>
        <p:spPr>
          <a:xfrm>
            <a:off x="7254240" y="2271129"/>
            <a:ext cx="904240" cy="416251"/>
          </a:xfrm>
          <a:prstGeom prst="donut">
            <a:avLst>
              <a:gd name="adj" fmla="val 1889"/>
            </a:avLst>
          </a:prstGeom>
          <a:solidFill>
            <a:schemeClr val="accent3">
              <a:lumMod val="75000"/>
              <a:lumOff val="2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  <p:pic>
        <p:nvPicPr>
          <p:cNvPr id="5" name="תמונה 4" descr="תמונה שמכילה טקסט, צילום מסך, מחשב, תוכנ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1464CBAA-7E43-790C-CA50-1414B81629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322" t="14334" r="21695" b="5500"/>
          <a:stretch>
            <a:fillRect/>
          </a:stretch>
        </p:blipFill>
        <p:spPr>
          <a:xfrm>
            <a:off x="5875019" y="276318"/>
            <a:ext cx="5314951" cy="4133446"/>
          </a:xfrm>
          <a:prstGeom prst="rect">
            <a:avLst/>
          </a:prstGeom>
        </p:spPr>
      </p:pic>
      <p:pic>
        <p:nvPicPr>
          <p:cNvPr id="10" name="תמונה 9" descr="תמונה שמכילה טקסט, צילום מסך, תוכנה, סמל מחש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B0EC239C-60C8-7562-2DAC-8DE19C0EA5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156" t="24501" r="21437" b="9166"/>
          <a:stretch>
            <a:fillRect/>
          </a:stretch>
        </p:blipFill>
        <p:spPr>
          <a:xfrm>
            <a:off x="468630" y="810749"/>
            <a:ext cx="5223510" cy="3337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5025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C3161-50FA-F452-5B34-4C8F828D8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מלבן 6">
            <a:extLst>
              <a:ext uri="{FF2B5EF4-FFF2-40B4-BE49-F238E27FC236}">
                <a16:creationId xmlns:a16="http://schemas.microsoft.com/office/drawing/2014/main" id="{0B15FB1D-6466-B31F-E822-F6F7DED8E128}"/>
              </a:ext>
            </a:extLst>
          </p:cNvPr>
          <p:cNvSpPr/>
          <p:nvPr/>
        </p:nvSpPr>
        <p:spPr>
          <a:xfrm>
            <a:off x="335504" y="5185960"/>
            <a:ext cx="11681011" cy="138499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2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כך נראה לוח טיפוסי בסוף משחק שצדקו בו ברוב התשובות (ככל שיש יותר טעויות – ככה יהיו יותר משבצות אפורות)</a:t>
            </a:r>
            <a:b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</a:br>
            <a:r>
              <a:rPr lang="he-IL" sz="2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בשלב בו סיימנו את המשחק אפשר ללחוץ על "סיום משחק" ולעבור ללוח התוצאות</a:t>
            </a:r>
            <a:endParaRPr lang="he-IL" sz="2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braham" panose="00000500000000000000" pitchFamily="2" charset="-79"/>
              <a:cs typeface="Abraham" panose="00000500000000000000" pitchFamily="2" charset="-79"/>
            </a:endParaRPr>
          </a:p>
        </p:txBody>
      </p:sp>
      <p:pic>
        <p:nvPicPr>
          <p:cNvPr id="12" name="תמונה 11" descr="תמונה שמכילה טקסט, צילום מסך, תוכנה, סמל מחש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913D604C-CB43-2F4A-EAF3-87D603D675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333" r="1094" b="7584"/>
          <a:stretch>
            <a:fillRect/>
          </a:stretch>
        </p:blipFill>
        <p:spPr>
          <a:xfrm>
            <a:off x="703690" y="297180"/>
            <a:ext cx="10784619" cy="47891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מעגל: חלול 12">
            <a:extLst>
              <a:ext uri="{FF2B5EF4-FFF2-40B4-BE49-F238E27FC236}">
                <a16:creationId xmlns:a16="http://schemas.microsoft.com/office/drawing/2014/main" id="{4F1D39A0-836E-8478-63BA-DF7FA50886D8}"/>
              </a:ext>
            </a:extLst>
          </p:cNvPr>
          <p:cNvSpPr/>
          <p:nvPr/>
        </p:nvSpPr>
        <p:spPr>
          <a:xfrm>
            <a:off x="1371600" y="287045"/>
            <a:ext cx="963402" cy="474914"/>
          </a:xfrm>
          <a:prstGeom prst="donut">
            <a:avLst>
              <a:gd name="adj" fmla="val 1889"/>
            </a:avLst>
          </a:prstGeom>
          <a:solidFill>
            <a:schemeClr val="accent3">
              <a:lumMod val="75000"/>
              <a:lumOff val="2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81653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4F36B-F448-D04E-91F2-E10A4163D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מלבן 6">
            <a:extLst>
              <a:ext uri="{FF2B5EF4-FFF2-40B4-BE49-F238E27FC236}">
                <a16:creationId xmlns:a16="http://schemas.microsoft.com/office/drawing/2014/main" id="{980C1D06-9C1B-09C4-01BF-91B7EFE4455D}"/>
              </a:ext>
            </a:extLst>
          </p:cNvPr>
          <p:cNvSpPr/>
          <p:nvPr/>
        </p:nvSpPr>
        <p:spPr>
          <a:xfrm>
            <a:off x="335504" y="5185960"/>
            <a:ext cx="11681011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2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וזהו, כאן מופיע ניקוד הקבוצות. ניתן ללחוץ על "איפוס משחק" בשלב זה.</a:t>
            </a:r>
            <a:endParaRPr lang="he-IL" sz="2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braham" panose="00000500000000000000" pitchFamily="2" charset="-79"/>
              <a:cs typeface="Abraham" panose="00000500000000000000" pitchFamily="2" charset="-79"/>
            </a:endParaRPr>
          </a:p>
        </p:txBody>
      </p:sp>
      <p:pic>
        <p:nvPicPr>
          <p:cNvPr id="3" name="תמונה 2" descr="תמונה שמכילה טקסט, צילום מסך, תוכנה, סמל מחש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35BE6100-C690-2CFD-2BA1-EF1F9EAD09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166" r="1439" b="6167"/>
          <a:stretch>
            <a:fillRect/>
          </a:stretch>
        </p:blipFill>
        <p:spPr>
          <a:xfrm>
            <a:off x="922020" y="377190"/>
            <a:ext cx="9898380" cy="450048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מעגל: חלול 3">
            <a:extLst>
              <a:ext uri="{FF2B5EF4-FFF2-40B4-BE49-F238E27FC236}">
                <a16:creationId xmlns:a16="http://schemas.microsoft.com/office/drawing/2014/main" id="{56919D2B-CFDC-99F6-3CB5-840B10D58DCF}"/>
              </a:ext>
            </a:extLst>
          </p:cNvPr>
          <p:cNvSpPr/>
          <p:nvPr/>
        </p:nvSpPr>
        <p:spPr>
          <a:xfrm>
            <a:off x="889899" y="387342"/>
            <a:ext cx="836031" cy="378468"/>
          </a:xfrm>
          <a:prstGeom prst="donut">
            <a:avLst>
              <a:gd name="adj" fmla="val 1889"/>
            </a:avLst>
          </a:prstGeom>
          <a:solidFill>
            <a:schemeClr val="accent3">
              <a:lumMod val="75000"/>
              <a:lumOff val="2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07EB47ED-B164-FD0A-7708-9843371371D3}"/>
              </a:ext>
            </a:extLst>
          </p:cNvPr>
          <p:cNvSpPr/>
          <p:nvPr/>
        </p:nvSpPr>
        <p:spPr>
          <a:xfrm>
            <a:off x="255494" y="5709180"/>
            <a:ext cx="11681011" cy="9541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2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מומלץ מאוד להיכנס ולנסות לענות על כל השאלות בעצמכם, כדי שתכירו את </a:t>
            </a:r>
            <a:r>
              <a:rPr lang="he-IL" sz="28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הכל</a:t>
            </a:r>
            <a:r>
              <a:rPr lang="he-IL" sz="2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</a:rPr>
              <a:t> לפני המשחק. בהצלחה</a:t>
            </a:r>
            <a:r>
              <a:rPr lang="he-IL" sz="2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raham" panose="00000500000000000000" pitchFamily="2" charset="-79"/>
                <a:cs typeface="Abraham" panose="00000500000000000000" pitchFamily="2" charset="-79"/>
                <a:sym typeface="Wingdings" panose="05000000000000000000" pitchFamily="2" charset="2"/>
              </a:rPr>
              <a:t></a:t>
            </a:r>
            <a:endParaRPr lang="he-IL" sz="2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braham" panose="00000500000000000000" pitchFamily="2" charset="-79"/>
              <a:cs typeface="Abraham" panose="000005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711742658"/>
      </p:ext>
    </p:extLst>
  </p:cSld>
  <p:clrMapOvr>
    <a:masterClrMapping/>
  </p:clrMapOvr>
</p:sld>
</file>

<file path=ppt/theme/theme1.xml><?xml version="1.0" encoding="utf-8"?>
<a:theme xmlns:a="http://schemas.openxmlformats.org/drawingml/2006/main" name="פרוסה">
  <a:themeElements>
    <a:clrScheme name="התאמה אישית 1">
      <a:dk1>
        <a:sysClr val="windowText" lastClr="000000"/>
      </a:dk1>
      <a:lt1>
        <a:sysClr val="window" lastClr="FFFFFF"/>
      </a:lt1>
      <a:dk2>
        <a:srgbClr val="86C5EE"/>
      </a:dk2>
      <a:lt2>
        <a:srgbClr val="C2E2F6"/>
      </a:lt2>
      <a:accent1>
        <a:srgbClr val="052F61"/>
      </a:accent1>
      <a:accent2>
        <a:srgbClr val="0F486F"/>
      </a:accent2>
      <a:accent3>
        <a:srgbClr val="09304A"/>
      </a:accent3>
      <a:accent4>
        <a:srgbClr val="356A95"/>
      </a:accent4>
      <a:accent5>
        <a:srgbClr val="22C4ED"/>
      </a:accent5>
      <a:accent6>
        <a:srgbClr val="4A9FDD"/>
      </a:accent6>
      <a:hlink>
        <a:srgbClr val="0D2E46"/>
      </a:hlink>
      <a:folHlink>
        <a:srgbClr val="356A95"/>
      </a:folHlink>
    </a:clrScheme>
    <a:fontScheme name="פרוסה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פרוסה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TM02900771[[fn=פרוסה]]</Template>
  <TotalTime>325</TotalTime>
  <Words>941</Words>
  <Application>Microsoft Office PowerPoint</Application>
  <PresentationFormat>מסך רחב</PresentationFormat>
  <Paragraphs>64</Paragraphs>
  <Slides>30</Slides>
  <Notes>1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5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30</vt:i4>
      </vt:variant>
    </vt:vector>
  </HeadingPairs>
  <TitlesOfParts>
    <vt:vector size="36" baseType="lpstr">
      <vt:lpstr>Abraham</vt:lpstr>
      <vt:lpstr>ADLaM Display</vt:lpstr>
      <vt:lpstr>Aptos</vt:lpstr>
      <vt:lpstr>Century Gothic</vt:lpstr>
      <vt:lpstr>Wingdings 3</vt:lpstr>
      <vt:lpstr>פרוסה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ליאור טלמן</dc:creator>
  <cp:lastModifiedBy>ליאור טלמן</cp:lastModifiedBy>
  <cp:revision>8</cp:revision>
  <dcterms:created xsi:type="dcterms:W3CDTF">2026-01-07T08:43:31Z</dcterms:created>
  <dcterms:modified xsi:type="dcterms:W3CDTF">2026-01-07T14:09:19Z</dcterms:modified>
</cp:coreProperties>
</file>