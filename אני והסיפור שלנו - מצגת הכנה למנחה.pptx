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5" r:id="rId6"/>
    <p:sldId id="261" r:id="rId7"/>
    <p:sldId id="286" r:id="rId8"/>
    <p:sldId id="265" r:id="rId9"/>
    <p:sldId id="260" r:id="rId10"/>
    <p:sldId id="266" r:id="rId11"/>
    <p:sldId id="267" r:id="rId12"/>
    <p:sldId id="262" r:id="rId13"/>
    <p:sldId id="274" r:id="rId14"/>
    <p:sldId id="264" r:id="rId15"/>
    <p:sldId id="263" r:id="rId16"/>
    <p:sldId id="268" r:id="rId17"/>
    <p:sldId id="270" r:id="rId18"/>
    <p:sldId id="271" r:id="rId19"/>
    <p:sldId id="272" r:id="rId20"/>
    <p:sldId id="275" r:id="rId21"/>
    <p:sldId id="276" r:id="rId22"/>
    <p:sldId id="277" r:id="rId23"/>
    <p:sldId id="278" r:id="rId24"/>
    <p:sldId id="273" r:id="rId25"/>
    <p:sldId id="279" r:id="rId26"/>
    <p:sldId id="280" r:id="rId27"/>
    <p:sldId id="283" r:id="rId28"/>
    <p:sldId id="282" r:id="rId29"/>
    <p:sldId id="281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81" d="100"/>
          <a:sy n="81" d="100"/>
        </p:scale>
        <p:origin x="677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F074E4D-C710-4EC0-9513-1B22499694C5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492C35D-958C-4574-99E0-C8193FACD07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512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2C35D-958C-4574-99E0-C8193FACD072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890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05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772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88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871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733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4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853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400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218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81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0888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459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7979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8909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9909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8801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250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8329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E85FE6F3-5724-B438-63B8-7B03437E4C5C}"/>
              </a:ext>
            </a:extLst>
          </p:cNvPr>
          <p:cNvSpPr/>
          <p:nvPr/>
        </p:nvSpPr>
        <p:spPr>
          <a:xfrm>
            <a:off x="1960049" y="2138236"/>
            <a:ext cx="606127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7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אני והסיפור שלנו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3367FB4-0281-6C01-2021-5AB667A1C851}"/>
              </a:ext>
            </a:extLst>
          </p:cNvPr>
          <p:cNvSpPr/>
          <p:nvPr/>
        </p:nvSpPr>
        <p:spPr>
          <a:xfrm>
            <a:off x="907357" y="3698798"/>
            <a:ext cx="24048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הכנה למנחה</a:t>
            </a:r>
          </a:p>
        </p:txBody>
      </p:sp>
      <p:pic>
        <p:nvPicPr>
          <p:cNvPr id="7" name="תמונה 6" descr="תמונה שמכילה טקסט, גרפיקה, עיצוב גרפי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B21FE28-34F8-E86E-C06B-53559F029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136" y="4825473"/>
            <a:ext cx="1914148" cy="17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תוכנה,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0B19B13-18A2-E5D6-E242-9D5EDE72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86" t="18462" r="33324" b="60586"/>
          <a:stretch>
            <a:fillRect/>
          </a:stretch>
        </p:blipFill>
        <p:spPr>
          <a:xfrm>
            <a:off x="613081" y="1017395"/>
            <a:ext cx="10965837" cy="2411605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950584B9-C5AA-32DA-E08B-C884F0636C13}"/>
              </a:ext>
            </a:extLst>
          </p:cNvPr>
          <p:cNvSpPr/>
          <p:nvPr/>
        </p:nvSpPr>
        <p:spPr>
          <a:xfrm>
            <a:off x="1465592" y="4197681"/>
            <a:ext cx="9260812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על מנת להיכנס למשחק, יש ללחוץ על הקובץ התחתון המסומן פה</a:t>
            </a:r>
            <a:b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שימו לב !! – אין להיכנס ולשנות דברים בתיקייה העליונה, זה עלול לשבש את הקוד של המשחק שלנו</a:t>
            </a:r>
            <a:endParaRPr lang="he-IL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5" name="מעגל: חלול 4">
            <a:extLst>
              <a:ext uri="{FF2B5EF4-FFF2-40B4-BE49-F238E27FC236}">
                <a16:creationId xmlns:a16="http://schemas.microsoft.com/office/drawing/2014/main" id="{11739944-A063-0C05-3396-40739793835D}"/>
              </a:ext>
            </a:extLst>
          </p:cNvPr>
          <p:cNvSpPr/>
          <p:nvPr/>
        </p:nvSpPr>
        <p:spPr>
          <a:xfrm>
            <a:off x="6001730" y="2639505"/>
            <a:ext cx="2825992" cy="399324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6" name="מחבר: מעוקל 5">
            <a:extLst>
              <a:ext uri="{FF2B5EF4-FFF2-40B4-BE49-F238E27FC236}">
                <a16:creationId xmlns:a16="http://schemas.microsoft.com/office/drawing/2014/main" id="{324E12ED-32C5-91FE-2C2A-8B2CFEEC6C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94351" y="3442482"/>
            <a:ext cx="1231515" cy="42420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25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239DB-B4A9-171E-0DDD-F6C6C81C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E49C2A17-9AB9-DEEF-BC42-59902BA8D728}"/>
              </a:ext>
            </a:extLst>
          </p:cNvPr>
          <p:cNvSpPr/>
          <p:nvPr/>
        </p:nvSpPr>
        <p:spPr>
          <a:xfrm>
            <a:off x="4062116" y="5136105"/>
            <a:ext cx="40677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עמוד פתיחה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2C400051-F195-CEAA-64A2-E1181DFC4ECE}"/>
              </a:ext>
            </a:extLst>
          </p:cNvPr>
          <p:cNvSpPr/>
          <p:nvPr/>
        </p:nvSpPr>
        <p:spPr>
          <a:xfrm>
            <a:off x="2847103" y="5940117"/>
            <a:ext cx="649779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נפתח </a:t>
            </a: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לאחר </a:t>
            </a: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</a:t>
            </a: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לחיצה</a:t>
            </a:r>
          </a:p>
        </p:txBody>
      </p:sp>
      <p:pic>
        <p:nvPicPr>
          <p:cNvPr id="8" name="תמונה 7" descr="תמונה שמכילה טקסט, צילום מסך, תוכנה,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6749D22-5122-9243-B7D5-3B617F978D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" t="14359" r="1181" b="5348"/>
          <a:stretch>
            <a:fillRect/>
          </a:stretch>
        </p:blipFill>
        <p:spPr>
          <a:xfrm>
            <a:off x="1219304" y="456218"/>
            <a:ext cx="9753392" cy="44877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72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68AC-F830-86E5-D9FF-2F665810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B24F8EED-97BF-1E5F-AAC9-039A3A3DFB2A}"/>
              </a:ext>
            </a:extLst>
          </p:cNvPr>
          <p:cNvSpPr/>
          <p:nvPr/>
        </p:nvSpPr>
        <p:spPr>
          <a:xfrm>
            <a:off x="4453526" y="3727509"/>
            <a:ext cx="31853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סיום משחק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6FF1A667-B2F5-ED14-1D85-02289D0827DA}"/>
              </a:ext>
            </a:extLst>
          </p:cNvPr>
          <p:cNvSpPr/>
          <p:nvPr/>
        </p:nvSpPr>
        <p:spPr>
          <a:xfrm>
            <a:off x="4607248" y="4474917"/>
            <a:ext cx="287788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סיום משחק ומעבר ללוח ניקוד סופי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0085936-5EAC-3044-81D4-607A467C9A50}"/>
              </a:ext>
            </a:extLst>
          </p:cNvPr>
          <p:cNvSpPr/>
          <p:nvPr/>
        </p:nvSpPr>
        <p:spPr>
          <a:xfrm>
            <a:off x="7915541" y="3729609"/>
            <a:ext cx="31853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בטל פעולה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33BE682B-697F-701A-8A42-3C13CAE58EF9}"/>
              </a:ext>
            </a:extLst>
          </p:cNvPr>
          <p:cNvSpPr/>
          <p:nvPr/>
        </p:nvSpPr>
        <p:spPr>
          <a:xfrm>
            <a:off x="7920030" y="4474917"/>
            <a:ext cx="318532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חזרה אחורה לפעולה האחרונה, והסרת ניקוד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78784CE-0003-F877-2C35-EC3759DF65B9}"/>
              </a:ext>
            </a:extLst>
          </p:cNvPr>
          <p:cNvSpPr/>
          <p:nvPr/>
        </p:nvSpPr>
        <p:spPr>
          <a:xfrm>
            <a:off x="4614806" y="5429024"/>
            <a:ext cx="28778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braham" panose="00000500000000000000" pitchFamily="2" charset="-79"/>
              </a:rPr>
              <a:t>( ניתן לבצע פעולה זו גם בלחיצה על מקש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</a:t>
            </a:r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)</a:t>
            </a:r>
            <a:endParaRPr lang="he-IL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braham" panose="00000500000000000000" pitchFamily="2" charset="-79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49E76234-A706-C37B-75CD-CDDFF2026E36}"/>
              </a:ext>
            </a:extLst>
          </p:cNvPr>
          <p:cNvSpPr/>
          <p:nvPr/>
        </p:nvSpPr>
        <p:spPr>
          <a:xfrm>
            <a:off x="8069263" y="5429024"/>
            <a:ext cx="28778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braham" panose="00000500000000000000" pitchFamily="2" charset="-79"/>
              </a:rPr>
              <a:t>( ניתן לבצע פעולה זו גם בלחיצה על מקש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</a:t>
            </a:r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)</a:t>
            </a:r>
            <a:endParaRPr lang="he-IL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braham" panose="00000500000000000000" pitchFamily="2" charset="-79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A7707F7-1639-0BE8-3783-B1C5B88B36EC}"/>
              </a:ext>
            </a:extLst>
          </p:cNvPr>
          <p:cNvSpPr/>
          <p:nvPr/>
        </p:nvSpPr>
        <p:spPr>
          <a:xfrm>
            <a:off x="854110" y="3727509"/>
            <a:ext cx="31853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איפוס משחק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82512051-9803-5346-707B-87EAA8828D4A}"/>
              </a:ext>
            </a:extLst>
          </p:cNvPr>
          <p:cNvSpPr/>
          <p:nvPr/>
        </p:nvSpPr>
        <p:spPr>
          <a:xfrm>
            <a:off x="854110" y="4474916"/>
            <a:ext cx="318532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איפוס משחק לגמרי וחזרה למסך הפתיחה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F1C984F8-D9F5-EB3F-82DB-C2CA9D2C238B}"/>
              </a:ext>
            </a:extLst>
          </p:cNvPr>
          <p:cNvSpPr/>
          <p:nvPr/>
        </p:nvSpPr>
        <p:spPr>
          <a:xfrm>
            <a:off x="1007832" y="5429024"/>
            <a:ext cx="287788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ea typeface="ADLaM Display" panose="02010000000000000000" pitchFamily="2" charset="0"/>
                <a:cs typeface="Abraham" panose="00000500000000000000" pitchFamily="2" charset="-79"/>
              </a:rPr>
              <a:t>שימו לב! לא ניתן לבטל פעולה זו. השתמשו בה רק כשאתם רוצים להתחיל משחק חדש</a:t>
            </a:r>
            <a:endParaRPr lang="he-IL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ea typeface="ADLaM Display" panose="02010000000000000000" pitchFamily="2" charset="0"/>
              <a:cs typeface="Abraham" panose="00000500000000000000" pitchFamily="2" charset="-79"/>
            </a:endParaRPr>
          </a:p>
        </p:txBody>
      </p:sp>
      <p:pic>
        <p:nvPicPr>
          <p:cNvPr id="15" name="תמונה 14" descr="תמונה שמכילה טקסט, צילום מסך, תוכנה, מערכת הפ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9FCF618-ACE9-82D4-D9A9-BE3CA1AAD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0" t="16557" r="17912" b="57949"/>
          <a:stretch>
            <a:fillRect/>
          </a:stretch>
        </p:blipFill>
        <p:spPr>
          <a:xfrm>
            <a:off x="648282" y="1560917"/>
            <a:ext cx="10895435" cy="1960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מלבן 15">
            <a:extLst>
              <a:ext uri="{FF2B5EF4-FFF2-40B4-BE49-F238E27FC236}">
                <a16:creationId xmlns:a16="http://schemas.microsoft.com/office/drawing/2014/main" id="{4F7369C5-1275-D4FE-E13E-6E2EADC9E8B2}"/>
              </a:ext>
            </a:extLst>
          </p:cNvPr>
          <p:cNvSpPr/>
          <p:nvPr/>
        </p:nvSpPr>
        <p:spPr>
          <a:xfrm>
            <a:off x="4012305" y="95305"/>
            <a:ext cx="40677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כפתורי פעולות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B952CD71-7BF6-CBDE-A3DF-937CAF4F7B1A}"/>
              </a:ext>
            </a:extLst>
          </p:cNvPr>
          <p:cNvSpPr/>
          <p:nvPr/>
        </p:nvSpPr>
        <p:spPr>
          <a:xfrm>
            <a:off x="3579764" y="987595"/>
            <a:ext cx="493284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ea typeface="ADLaM Display" panose="02010000000000000000" pitchFamily="2" charset="0"/>
                <a:cs typeface="Abraham" panose="00000500000000000000" pitchFamily="2" charset="-79"/>
              </a:rPr>
              <a:t>נמצאים לכל אורך המשחק למעלה בצד שמאל</a:t>
            </a:r>
          </a:p>
        </p:txBody>
      </p:sp>
    </p:spTree>
    <p:extLst>
      <p:ext uri="{BB962C8B-B14F-4D97-AF65-F5344CB8AC3E}">
        <p14:creationId xmlns:p14="http://schemas.microsoft.com/office/powerpoint/2010/main" val="71601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0D69-A915-5CD2-A39C-0708B55B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223321A4-BD5A-2781-D78B-26B61EC55B81}"/>
              </a:ext>
            </a:extLst>
          </p:cNvPr>
          <p:cNvSpPr/>
          <p:nvPr/>
        </p:nvSpPr>
        <p:spPr>
          <a:xfrm>
            <a:off x="849733" y="5632341"/>
            <a:ext cx="1049252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נלחץ על "מתחילים" כדי להגיע לדף ההוראות</a:t>
            </a:r>
          </a:p>
        </p:txBody>
      </p:sp>
      <p:pic>
        <p:nvPicPr>
          <p:cNvPr id="8" name="תמונה 7" descr="תמונה שמכילה טקסט, צילום מסך, תוכנה,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8E93A2D-0629-2CE0-92BF-4865B643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" t="14359" r="1181" b="5348"/>
          <a:stretch>
            <a:fillRect/>
          </a:stretch>
        </p:blipFill>
        <p:spPr>
          <a:xfrm>
            <a:off x="705058" y="456218"/>
            <a:ext cx="10781881" cy="496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22ABA622-6FF5-F635-C7BD-2D4A8178EBDA}"/>
              </a:ext>
            </a:extLst>
          </p:cNvPr>
          <p:cNvSpPr/>
          <p:nvPr/>
        </p:nvSpPr>
        <p:spPr>
          <a:xfrm>
            <a:off x="5610997" y="2727136"/>
            <a:ext cx="970005" cy="339810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3" name="מחבר: מעוקל 2">
            <a:extLst>
              <a:ext uri="{FF2B5EF4-FFF2-40B4-BE49-F238E27FC236}">
                <a16:creationId xmlns:a16="http://schemas.microsoft.com/office/drawing/2014/main" id="{029DA3E0-D025-02A2-56BD-4CD3F48880F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25575" y="3758892"/>
            <a:ext cx="2491324" cy="125557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73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0FA1-14D8-515B-6968-60A5212E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0DBBC4-2EC1-EFF3-77DC-AF71A7A2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67" b="5000"/>
          <a:stretch>
            <a:fillRect/>
          </a:stretch>
        </p:blipFill>
        <p:spPr>
          <a:xfrm>
            <a:off x="1353261" y="354330"/>
            <a:ext cx="9485477" cy="4286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04339A0-4F57-02E2-23EA-7762740D0DAD}"/>
              </a:ext>
            </a:extLst>
          </p:cNvPr>
          <p:cNvSpPr txBox="1"/>
          <p:nvPr/>
        </p:nvSpPr>
        <p:spPr>
          <a:xfrm>
            <a:off x="3041070" y="4640580"/>
            <a:ext cx="61098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מסך הוראות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2F6FA68-2E4F-8AE6-8B98-676D91B43BB1}"/>
              </a:ext>
            </a:extLst>
          </p:cNvPr>
          <p:cNvSpPr/>
          <p:nvPr/>
        </p:nvSpPr>
        <p:spPr>
          <a:xfrm>
            <a:off x="255491" y="5471577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במסך זה מופיעות בקצרה הוראות המשחק עבור התלמידים.</a:t>
            </a:r>
            <a:b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על כל הדברים נעבור פה בהמשך המצגת, אבל מומלץ גם לכם המדריכים לעבור על ההוראות כדי לראו</a:t>
            </a: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ת שאתם מבינים </a:t>
            </a:r>
            <a:r>
              <a:rPr lang="he-IL" sz="2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הכל</a:t>
            </a: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ויודעים איך לענות לתלמידים על שאלות בהתאם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4065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6038-48D3-76ED-A4C7-D11F1541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EC63B67-CE09-D8EB-A3BE-A0465D6FBD36}"/>
              </a:ext>
            </a:extLst>
          </p:cNvPr>
          <p:cNvSpPr txBox="1"/>
          <p:nvPr/>
        </p:nvSpPr>
        <p:spPr>
          <a:xfrm>
            <a:off x="878201" y="4949190"/>
            <a:ext cx="104355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כשסיימתם לעבור על ההוראות לחצו על הכפתור בצד שמאל למטה ותעברו למסך בחירת הקבוצות</a:t>
            </a: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8D57E8E-FA0C-4983-93DE-4B9F79FAD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5" t="14667" r="1881" b="5000"/>
          <a:stretch>
            <a:fillRect/>
          </a:stretch>
        </p:blipFill>
        <p:spPr>
          <a:xfrm>
            <a:off x="1461131" y="296873"/>
            <a:ext cx="9269730" cy="43437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מעגל: חלול 6">
            <a:extLst>
              <a:ext uri="{FF2B5EF4-FFF2-40B4-BE49-F238E27FC236}">
                <a16:creationId xmlns:a16="http://schemas.microsoft.com/office/drawing/2014/main" id="{5C5835D6-C4E9-45FC-BDD9-B047672D6E18}"/>
              </a:ext>
            </a:extLst>
          </p:cNvPr>
          <p:cNvSpPr/>
          <p:nvPr/>
        </p:nvSpPr>
        <p:spPr>
          <a:xfrm>
            <a:off x="3370717" y="4178746"/>
            <a:ext cx="970005" cy="339810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789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0CEC7-A216-76A8-E5E3-2BC1918A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BC48A24-EEAA-80DB-45CA-C9DC79DCC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39" r="1023" b="6061"/>
          <a:stretch>
            <a:fillRect/>
          </a:stretch>
        </p:blipFill>
        <p:spPr>
          <a:xfrm>
            <a:off x="994063" y="277092"/>
            <a:ext cx="10203873" cy="4639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DC2B156-FF33-FDEF-1CC4-AF7AA0846B0C}"/>
              </a:ext>
            </a:extLst>
          </p:cNvPr>
          <p:cNvSpPr txBox="1"/>
          <p:nvPr/>
        </p:nvSpPr>
        <p:spPr>
          <a:xfrm>
            <a:off x="3041071" y="4916281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מסך הגדרת קבוצות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61270FA-FF1B-1D90-6412-93C70B4C22E3}"/>
              </a:ext>
            </a:extLst>
          </p:cNvPr>
          <p:cNvSpPr/>
          <p:nvPr/>
        </p:nvSpPr>
        <p:spPr>
          <a:xfrm>
            <a:off x="255492" y="5624167"/>
            <a:ext cx="1168101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במסך זה תו</a:t>
            </a: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כלו להחליט לכמה קבוצות תחלקו את הכיתה, ואם תרצו - אפשר לתת שם לכל קבוצה.</a:t>
            </a:r>
            <a:b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אם לא תבחרו שמות, השמות יקבעו לפי ברירת המחדל (קבוצה 1, קבוצה 2, קבוצה 3)</a:t>
            </a:r>
            <a:b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לאחר שבחרתם לחצו על "התחל" והמשחק יתחיל:)</a:t>
            </a:r>
            <a:endParaRPr lang="he-IL" sz="2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0187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1261-E031-949D-2C5C-5257032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>
            <a:extLst>
              <a:ext uri="{FF2B5EF4-FFF2-40B4-BE49-F238E27FC236}">
                <a16:creationId xmlns:a16="http://schemas.microsoft.com/office/drawing/2014/main" id="{5D6B4E77-709F-CFCB-9D98-75971B4D4D58}"/>
              </a:ext>
            </a:extLst>
          </p:cNvPr>
          <p:cNvSpPr/>
          <p:nvPr/>
        </p:nvSpPr>
        <p:spPr>
          <a:xfrm>
            <a:off x="1365428" y="4961264"/>
            <a:ext cx="94611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מסך הלוח – לב המשחק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5053278B-842A-D045-8144-37B2EA9737EA}"/>
              </a:ext>
            </a:extLst>
          </p:cNvPr>
          <p:cNvSpPr/>
          <p:nvPr/>
        </p:nvSpPr>
        <p:spPr>
          <a:xfrm>
            <a:off x="255492" y="5810597"/>
            <a:ext cx="1168101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כאן בעצם </a:t>
            </a:r>
            <a:r>
              <a:rPr lang="he-IL" sz="2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הכל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קורה. במסך מופיע לוח עם 6 קטגוריות, ו7 שאלות בכל קטגוריה.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21" name="תמונה 20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684EBA4-68AE-EA6E-FC67-220EDB35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38" r="1135" b="7642"/>
          <a:stretch>
            <a:fillRect/>
          </a:stretch>
        </p:blipFill>
        <p:spPr>
          <a:xfrm>
            <a:off x="1007919" y="293983"/>
            <a:ext cx="10176161" cy="4551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4221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E2C8-CE7D-69CC-5DAE-73A43797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>
            <a:extLst>
              <a:ext uri="{FF2B5EF4-FFF2-40B4-BE49-F238E27FC236}">
                <a16:creationId xmlns:a16="http://schemas.microsoft.com/office/drawing/2014/main" id="{6EA1DCF8-5200-87A8-D6CC-13D9A77F5B36}"/>
              </a:ext>
            </a:extLst>
          </p:cNvPr>
          <p:cNvSpPr/>
          <p:nvPr/>
        </p:nvSpPr>
        <p:spPr>
          <a:xfrm>
            <a:off x="3526737" y="515442"/>
            <a:ext cx="47444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בצד ימין למעלה אפשר לראות: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E1E61AF5-2C00-123C-F7D5-6976199D6A12}"/>
              </a:ext>
            </a:extLst>
          </p:cNvPr>
          <p:cNvSpPr/>
          <p:nvPr/>
        </p:nvSpPr>
        <p:spPr>
          <a:xfrm>
            <a:off x="342492" y="1871883"/>
            <a:ext cx="420567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לאיזה קבוצה שייך התור עכשיו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4" name="תמונה 3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CE1ADE7-FA35-03AA-D0A3-285142112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78" t="17374" r="16136" b="10101"/>
          <a:stretch>
            <a:fillRect/>
          </a:stretch>
        </p:blipFill>
        <p:spPr>
          <a:xfrm>
            <a:off x="5209311" y="1581031"/>
            <a:ext cx="6317672" cy="4491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AEA139E4-64E0-442A-9300-CB68E788C8B3}"/>
              </a:ext>
            </a:extLst>
          </p:cNvPr>
          <p:cNvSpPr/>
          <p:nvPr/>
        </p:nvSpPr>
        <p:spPr>
          <a:xfrm>
            <a:off x="587288" y="3659211"/>
            <a:ext cx="356062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הצבע והשם של הקבוצות, והניקוד הנוכחי של כל אחת מהקבוצות, שישתנה במהלך המשחק כמובן</a:t>
            </a:r>
          </a:p>
        </p:txBody>
      </p:sp>
      <p:sp>
        <p:nvSpPr>
          <p:cNvPr id="8" name="צורה חופשית: צורה 7">
            <a:extLst>
              <a:ext uri="{FF2B5EF4-FFF2-40B4-BE49-F238E27FC236}">
                <a16:creationId xmlns:a16="http://schemas.microsoft.com/office/drawing/2014/main" id="{D6718BCB-44B4-D382-8577-A40EF9C6F3F5}"/>
              </a:ext>
            </a:extLst>
          </p:cNvPr>
          <p:cNvSpPr/>
          <p:nvPr/>
        </p:nvSpPr>
        <p:spPr>
          <a:xfrm>
            <a:off x="4315691" y="3521824"/>
            <a:ext cx="651164" cy="2287659"/>
          </a:xfrm>
          <a:custGeom>
            <a:avLst/>
            <a:gdLst>
              <a:gd name="csX0" fmla="*/ 651164 w 651164"/>
              <a:gd name="csY0" fmla="*/ 0 h 2287659"/>
              <a:gd name="csX1" fmla="*/ 581891 w 651164"/>
              <a:gd name="csY1" fmla="*/ 13855 h 2287659"/>
              <a:gd name="csX2" fmla="*/ 387928 w 651164"/>
              <a:gd name="csY2" fmla="*/ 27710 h 2287659"/>
              <a:gd name="csX3" fmla="*/ 263237 w 651164"/>
              <a:gd name="csY3" fmla="*/ 83128 h 2287659"/>
              <a:gd name="csX4" fmla="*/ 221673 w 651164"/>
              <a:gd name="csY4" fmla="*/ 166255 h 2287659"/>
              <a:gd name="csX5" fmla="*/ 207819 w 651164"/>
              <a:gd name="csY5" fmla="*/ 207819 h 2287659"/>
              <a:gd name="csX6" fmla="*/ 263237 w 651164"/>
              <a:gd name="csY6" fmla="*/ 720437 h 2287659"/>
              <a:gd name="csX7" fmla="*/ 180110 w 651164"/>
              <a:gd name="csY7" fmla="*/ 1025237 h 2287659"/>
              <a:gd name="csX8" fmla="*/ 138546 w 651164"/>
              <a:gd name="csY8" fmla="*/ 1039091 h 2287659"/>
              <a:gd name="csX9" fmla="*/ 96982 w 651164"/>
              <a:gd name="csY9" fmla="*/ 1066800 h 2287659"/>
              <a:gd name="csX10" fmla="*/ 55419 w 651164"/>
              <a:gd name="csY10" fmla="*/ 1080655 h 2287659"/>
              <a:gd name="csX11" fmla="*/ 0 w 651164"/>
              <a:gd name="csY11" fmla="*/ 1122219 h 2287659"/>
              <a:gd name="csX12" fmla="*/ 83128 w 651164"/>
              <a:gd name="csY12" fmla="*/ 1136073 h 2287659"/>
              <a:gd name="csX13" fmla="*/ 207819 w 651164"/>
              <a:gd name="csY13" fmla="*/ 1191491 h 2287659"/>
              <a:gd name="csX14" fmla="*/ 277091 w 651164"/>
              <a:gd name="csY14" fmla="*/ 1357746 h 2287659"/>
              <a:gd name="csX15" fmla="*/ 304800 w 651164"/>
              <a:gd name="csY15" fmla="*/ 2244437 h 2287659"/>
              <a:gd name="csX16" fmla="*/ 332510 w 651164"/>
              <a:gd name="csY16" fmla="*/ 2272146 h 2287659"/>
              <a:gd name="csX17" fmla="*/ 387928 w 651164"/>
              <a:gd name="csY17" fmla="*/ 2286000 h 2287659"/>
              <a:gd name="csX18" fmla="*/ 623455 w 651164"/>
              <a:gd name="csY18" fmla="*/ 2286000 h 22876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51164" h="2287659">
                <a:moveTo>
                  <a:pt x="651164" y="0"/>
                </a:moveTo>
                <a:cubicBezTo>
                  <a:pt x="628073" y="4618"/>
                  <a:pt x="605310" y="11390"/>
                  <a:pt x="581891" y="13855"/>
                </a:cubicBezTo>
                <a:cubicBezTo>
                  <a:pt x="517428" y="20641"/>
                  <a:pt x="451954" y="17601"/>
                  <a:pt x="387928" y="27710"/>
                </a:cubicBezTo>
                <a:cubicBezTo>
                  <a:pt x="362073" y="31792"/>
                  <a:pt x="288918" y="70287"/>
                  <a:pt x="263237" y="83128"/>
                </a:cubicBezTo>
                <a:cubicBezTo>
                  <a:pt x="249382" y="110837"/>
                  <a:pt x="234255" y="137945"/>
                  <a:pt x="221673" y="166255"/>
                </a:cubicBezTo>
                <a:cubicBezTo>
                  <a:pt x="215742" y="179600"/>
                  <a:pt x="206727" y="193256"/>
                  <a:pt x="207819" y="207819"/>
                </a:cubicBezTo>
                <a:cubicBezTo>
                  <a:pt x="220673" y="379206"/>
                  <a:pt x="263237" y="720437"/>
                  <a:pt x="263237" y="720437"/>
                </a:cubicBezTo>
                <a:cubicBezTo>
                  <a:pt x="246846" y="851562"/>
                  <a:pt x="269925" y="935423"/>
                  <a:pt x="180110" y="1025237"/>
                </a:cubicBezTo>
                <a:cubicBezTo>
                  <a:pt x="169783" y="1035564"/>
                  <a:pt x="152401" y="1034473"/>
                  <a:pt x="138546" y="1039091"/>
                </a:cubicBezTo>
                <a:cubicBezTo>
                  <a:pt x="124691" y="1048327"/>
                  <a:pt x="111875" y="1059353"/>
                  <a:pt x="96982" y="1066800"/>
                </a:cubicBezTo>
                <a:cubicBezTo>
                  <a:pt x="83920" y="1073331"/>
                  <a:pt x="68099" y="1073409"/>
                  <a:pt x="55419" y="1080655"/>
                </a:cubicBezTo>
                <a:cubicBezTo>
                  <a:pt x="35370" y="1092112"/>
                  <a:pt x="18473" y="1108364"/>
                  <a:pt x="0" y="1122219"/>
                </a:cubicBezTo>
                <a:cubicBezTo>
                  <a:pt x="27709" y="1126837"/>
                  <a:pt x="55705" y="1129979"/>
                  <a:pt x="83128" y="1136073"/>
                </a:cubicBezTo>
                <a:cubicBezTo>
                  <a:pt x="125694" y="1145532"/>
                  <a:pt x="171847" y="1173505"/>
                  <a:pt x="207819" y="1191491"/>
                </a:cubicBezTo>
                <a:cubicBezTo>
                  <a:pt x="228996" y="1233846"/>
                  <a:pt x="274467" y="1319954"/>
                  <a:pt x="277091" y="1357746"/>
                </a:cubicBezTo>
                <a:cubicBezTo>
                  <a:pt x="297577" y="1652744"/>
                  <a:pt x="286911" y="1949271"/>
                  <a:pt x="304800" y="2244437"/>
                </a:cubicBezTo>
                <a:cubicBezTo>
                  <a:pt x="305590" y="2257475"/>
                  <a:pt x="320827" y="2266304"/>
                  <a:pt x="332510" y="2272146"/>
                </a:cubicBezTo>
                <a:cubicBezTo>
                  <a:pt x="349541" y="2280661"/>
                  <a:pt x="368908" y="2285094"/>
                  <a:pt x="387928" y="2286000"/>
                </a:cubicBezTo>
                <a:cubicBezTo>
                  <a:pt x="466348" y="2289734"/>
                  <a:pt x="544946" y="2286000"/>
                  <a:pt x="623455" y="2286000"/>
                </a:cubicBezTo>
              </a:path>
            </a:pathLst>
          </a:custGeom>
          <a:noFill/>
          <a:ln w="57150"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צורה חופשית: צורה 8">
            <a:extLst>
              <a:ext uri="{FF2B5EF4-FFF2-40B4-BE49-F238E27FC236}">
                <a16:creationId xmlns:a16="http://schemas.microsoft.com/office/drawing/2014/main" id="{14415BCD-23A9-1BA0-F609-BAB9845B7686}"/>
              </a:ext>
            </a:extLst>
          </p:cNvPr>
          <p:cNvSpPr/>
          <p:nvPr/>
        </p:nvSpPr>
        <p:spPr>
          <a:xfrm>
            <a:off x="4548162" y="1964654"/>
            <a:ext cx="325582" cy="631178"/>
          </a:xfrm>
          <a:custGeom>
            <a:avLst/>
            <a:gdLst>
              <a:gd name="csX0" fmla="*/ 651164 w 651164"/>
              <a:gd name="csY0" fmla="*/ 0 h 2287659"/>
              <a:gd name="csX1" fmla="*/ 581891 w 651164"/>
              <a:gd name="csY1" fmla="*/ 13855 h 2287659"/>
              <a:gd name="csX2" fmla="*/ 387928 w 651164"/>
              <a:gd name="csY2" fmla="*/ 27710 h 2287659"/>
              <a:gd name="csX3" fmla="*/ 263237 w 651164"/>
              <a:gd name="csY3" fmla="*/ 83128 h 2287659"/>
              <a:gd name="csX4" fmla="*/ 221673 w 651164"/>
              <a:gd name="csY4" fmla="*/ 166255 h 2287659"/>
              <a:gd name="csX5" fmla="*/ 207819 w 651164"/>
              <a:gd name="csY5" fmla="*/ 207819 h 2287659"/>
              <a:gd name="csX6" fmla="*/ 263237 w 651164"/>
              <a:gd name="csY6" fmla="*/ 720437 h 2287659"/>
              <a:gd name="csX7" fmla="*/ 180110 w 651164"/>
              <a:gd name="csY7" fmla="*/ 1025237 h 2287659"/>
              <a:gd name="csX8" fmla="*/ 138546 w 651164"/>
              <a:gd name="csY8" fmla="*/ 1039091 h 2287659"/>
              <a:gd name="csX9" fmla="*/ 96982 w 651164"/>
              <a:gd name="csY9" fmla="*/ 1066800 h 2287659"/>
              <a:gd name="csX10" fmla="*/ 55419 w 651164"/>
              <a:gd name="csY10" fmla="*/ 1080655 h 2287659"/>
              <a:gd name="csX11" fmla="*/ 0 w 651164"/>
              <a:gd name="csY11" fmla="*/ 1122219 h 2287659"/>
              <a:gd name="csX12" fmla="*/ 83128 w 651164"/>
              <a:gd name="csY12" fmla="*/ 1136073 h 2287659"/>
              <a:gd name="csX13" fmla="*/ 207819 w 651164"/>
              <a:gd name="csY13" fmla="*/ 1191491 h 2287659"/>
              <a:gd name="csX14" fmla="*/ 277091 w 651164"/>
              <a:gd name="csY14" fmla="*/ 1357746 h 2287659"/>
              <a:gd name="csX15" fmla="*/ 304800 w 651164"/>
              <a:gd name="csY15" fmla="*/ 2244437 h 2287659"/>
              <a:gd name="csX16" fmla="*/ 332510 w 651164"/>
              <a:gd name="csY16" fmla="*/ 2272146 h 2287659"/>
              <a:gd name="csX17" fmla="*/ 387928 w 651164"/>
              <a:gd name="csY17" fmla="*/ 2286000 h 2287659"/>
              <a:gd name="csX18" fmla="*/ 623455 w 651164"/>
              <a:gd name="csY18" fmla="*/ 2286000 h 22876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51164" h="2287659">
                <a:moveTo>
                  <a:pt x="651164" y="0"/>
                </a:moveTo>
                <a:cubicBezTo>
                  <a:pt x="628073" y="4618"/>
                  <a:pt x="605310" y="11390"/>
                  <a:pt x="581891" y="13855"/>
                </a:cubicBezTo>
                <a:cubicBezTo>
                  <a:pt x="517428" y="20641"/>
                  <a:pt x="451954" y="17601"/>
                  <a:pt x="387928" y="27710"/>
                </a:cubicBezTo>
                <a:cubicBezTo>
                  <a:pt x="362073" y="31792"/>
                  <a:pt x="288918" y="70287"/>
                  <a:pt x="263237" y="83128"/>
                </a:cubicBezTo>
                <a:cubicBezTo>
                  <a:pt x="249382" y="110837"/>
                  <a:pt x="234255" y="137945"/>
                  <a:pt x="221673" y="166255"/>
                </a:cubicBezTo>
                <a:cubicBezTo>
                  <a:pt x="215742" y="179600"/>
                  <a:pt x="206727" y="193256"/>
                  <a:pt x="207819" y="207819"/>
                </a:cubicBezTo>
                <a:cubicBezTo>
                  <a:pt x="220673" y="379206"/>
                  <a:pt x="263237" y="720437"/>
                  <a:pt x="263237" y="720437"/>
                </a:cubicBezTo>
                <a:cubicBezTo>
                  <a:pt x="246846" y="851562"/>
                  <a:pt x="269925" y="935423"/>
                  <a:pt x="180110" y="1025237"/>
                </a:cubicBezTo>
                <a:cubicBezTo>
                  <a:pt x="169783" y="1035564"/>
                  <a:pt x="152401" y="1034473"/>
                  <a:pt x="138546" y="1039091"/>
                </a:cubicBezTo>
                <a:cubicBezTo>
                  <a:pt x="124691" y="1048327"/>
                  <a:pt x="111875" y="1059353"/>
                  <a:pt x="96982" y="1066800"/>
                </a:cubicBezTo>
                <a:cubicBezTo>
                  <a:pt x="83920" y="1073331"/>
                  <a:pt x="68099" y="1073409"/>
                  <a:pt x="55419" y="1080655"/>
                </a:cubicBezTo>
                <a:cubicBezTo>
                  <a:pt x="35370" y="1092112"/>
                  <a:pt x="18473" y="1108364"/>
                  <a:pt x="0" y="1122219"/>
                </a:cubicBezTo>
                <a:cubicBezTo>
                  <a:pt x="27709" y="1126837"/>
                  <a:pt x="55705" y="1129979"/>
                  <a:pt x="83128" y="1136073"/>
                </a:cubicBezTo>
                <a:cubicBezTo>
                  <a:pt x="125694" y="1145532"/>
                  <a:pt x="171847" y="1173505"/>
                  <a:pt x="207819" y="1191491"/>
                </a:cubicBezTo>
                <a:cubicBezTo>
                  <a:pt x="228996" y="1233846"/>
                  <a:pt x="274467" y="1319954"/>
                  <a:pt x="277091" y="1357746"/>
                </a:cubicBezTo>
                <a:cubicBezTo>
                  <a:pt x="297577" y="1652744"/>
                  <a:pt x="286911" y="1949271"/>
                  <a:pt x="304800" y="2244437"/>
                </a:cubicBezTo>
                <a:cubicBezTo>
                  <a:pt x="305590" y="2257475"/>
                  <a:pt x="320827" y="2266304"/>
                  <a:pt x="332510" y="2272146"/>
                </a:cubicBezTo>
                <a:cubicBezTo>
                  <a:pt x="349541" y="2280661"/>
                  <a:pt x="368908" y="2285094"/>
                  <a:pt x="387928" y="2286000"/>
                </a:cubicBezTo>
                <a:cubicBezTo>
                  <a:pt x="466348" y="2289734"/>
                  <a:pt x="544946" y="2286000"/>
                  <a:pt x="623455" y="2286000"/>
                </a:cubicBezTo>
              </a:path>
            </a:pathLst>
          </a:custGeom>
          <a:noFill/>
          <a:ln w="57150"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34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E910-E482-626F-DCA4-68666C42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>
            <a:extLst>
              <a:ext uri="{FF2B5EF4-FFF2-40B4-BE49-F238E27FC236}">
                <a16:creationId xmlns:a16="http://schemas.microsoft.com/office/drawing/2014/main" id="{FFDC8352-A9E2-4711-AC80-720A58D4AA34}"/>
              </a:ext>
            </a:extLst>
          </p:cNvPr>
          <p:cNvSpPr/>
          <p:nvPr/>
        </p:nvSpPr>
        <p:spPr>
          <a:xfrm>
            <a:off x="1365428" y="4961264"/>
            <a:ext cx="94611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הלוח עצמו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62280B0-9A74-65B2-A658-CDD11A228BBE}"/>
              </a:ext>
            </a:extLst>
          </p:cNvPr>
          <p:cNvSpPr/>
          <p:nvPr/>
        </p:nvSpPr>
        <p:spPr>
          <a:xfrm>
            <a:off x="255492" y="581059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על כל קבוצה לבחור בתורה קטגוריה ומספר</a:t>
            </a:r>
            <a:b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עליכם ללחוץ על המספר שהקבוצה בחרה, ותופיע השאלה בנושא</a:t>
            </a:r>
          </a:p>
        </p:txBody>
      </p:sp>
      <p:pic>
        <p:nvPicPr>
          <p:cNvPr id="21" name="תמונה 20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60946F5-FEAE-481F-AE99-13EA2927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63" t="21821" r="31454" b="10459"/>
          <a:stretch>
            <a:fillRect/>
          </a:stretch>
        </p:blipFill>
        <p:spPr>
          <a:xfrm>
            <a:off x="2306778" y="288721"/>
            <a:ext cx="7578437" cy="4672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795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1463-D3D3-C28F-C5F3-CCEEA0B9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100B123-7C93-FF68-C883-0CE8C6FEC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17" r="1215" b="5882"/>
          <a:stretch>
            <a:fillRect/>
          </a:stretch>
        </p:blipFill>
        <p:spPr>
          <a:xfrm>
            <a:off x="738126" y="492148"/>
            <a:ext cx="9699315" cy="4418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1557E37D-2B08-5A42-0B5D-B179B1EA6758}"/>
              </a:ext>
            </a:extLst>
          </p:cNvPr>
          <p:cNvSpPr/>
          <p:nvPr/>
        </p:nvSpPr>
        <p:spPr>
          <a:xfrm>
            <a:off x="738126" y="5041156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אמריקאית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3A4E8F68-A36A-4DAD-5B96-C100EFC88E01}"/>
              </a:ext>
            </a:extLst>
          </p:cNvPr>
          <p:cNvSpPr/>
          <p:nvPr/>
        </p:nvSpPr>
        <p:spPr>
          <a:xfrm>
            <a:off x="255488" y="5810597"/>
            <a:ext cx="1168101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כעת כשהשאלה מוצגת בפני הכיתה, יש להם אפשרות לענות בלחיצה על התשובה שחושבים שהיא הנכונה, או להיעזר באחד מגלגלי ההצלה</a:t>
            </a:r>
          </a:p>
        </p:txBody>
      </p:sp>
    </p:spTree>
    <p:extLst>
      <p:ext uri="{BB962C8B-B14F-4D97-AF65-F5344CB8AC3E}">
        <p14:creationId xmlns:p14="http://schemas.microsoft.com/office/powerpoint/2010/main" val="387864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F41CF-5968-23DB-0ACE-A85777DB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FDC2CD5-9EEE-7D39-C4E3-A83213040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17" r="1215" b="5882"/>
          <a:stretch>
            <a:fillRect/>
          </a:stretch>
        </p:blipFill>
        <p:spPr>
          <a:xfrm>
            <a:off x="738126" y="502308"/>
            <a:ext cx="9699315" cy="4418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0245844E-95C7-0962-76C3-52126842929C}"/>
              </a:ext>
            </a:extLst>
          </p:cNvPr>
          <p:cNvSpPr/>
          <p:nvPr/>
        </p:nvSpPr>
        <p:spPr>
          <a:xfrm>
            <a:off x="738133" y="5079195"/>
            <a:ext cx="1071573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למעלה מופיעים - הקטגוריה, מספר השאלה, סוג השאלה וכמות הניקוד שאפשר לקבל עליה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8" name="מעגל: חלול 7">
            <a:extLst>
              <a:ext uri="{FF2B5EF4-FFF2-40B4-BE49-F238E27FC236}">
                <a16:creationId xmlns:a16="http://schemas.microsoft.com/office/drawing/2014/main" id="{CD569195-4C20-424F-8F65-A77F34D305CF}"/>
              </a:ext>
            </a:extLst>
          </p:cNvPr>
          <p:cNvSpPr/>
          <p:nvPr/>
        </p:nvSpPr>
        <p:spPr>
          <a:xfrm>
            <a:off x="6583034" y="1384091"/>
            <a:ext cx="2130661" cy="664564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9" name="מחבר: מעוקל 8">
            <a:extLst>
              <a:ext uri="{FF2B5EF4-FFF2-40B4-BE49-F238E27FC236}">
                <a16:creationId xmlns:a16="http://schemas.microsoft.com/office/drawing/2014/main" id="{47DD128E-10C4-1D91-CF59-247520B5A4D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14316" y="2821598"/>
            <a:ext cx="3090904" cy="154501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835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29FBF-681E-8760-81BB-6AF04807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12B285E6-58ED-6AAC-789D-8822BFE3D037}"/>
              </a:ext>
            </a:extLst>
          </p:cNvPr>
          <p:cNvSpPr/>
          <p:nvPr/>
        </p:nvSpPr>
        <p:spPr>
          <a:xfrm>
            <a:off x="1429276" y="5329254"/>
            <a:ext cx="946114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גלגל הצלה – שאל את המורה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9FC1FD7-6CDD-3D38-7F70-90DAD540DAD6}"/>
              </a:ext>
            </a:extLst>
          </p:cNvPr>
          <p:cNvSpPr/>
          <p:nvPr/>
        </p:nvSpPr>
        <p:spPr>
          <a:xfrm>
            <a:off x="1301574" y="6252584"/>
            <a:ext cx="958884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לכל קבוצה יש שימוש אחד בלבד בגלגל זה, ניתן לשימוש רק בשאלות רגילות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D5C9CCF-D958-12BD-B1B9-0C20DA449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24" r="956" b="6652"/>
          <a:stretch>
            <a:fillRect/>
          </a:stretch>
        </p:blipFill>
        <p:spPr>
          <a:xfrm>
            <a:off x="870693" y="461776"/>
            <a:ext cx="10250388" cy="4920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54A46561-7EC7-8EAA-DB3F-5D894AFA7346}"/>
              </a:ext>
            </a:extLst>
          </p:cNvPr>
          <p:cNvSpPr/>
          <p:nvPr/>
        </p:nvSpPr>
        <p:spPr>
          <a:xfrm>
            <a:off x="7764294" y="3741224"/>
            <a:ext cx="1343417" cy="365127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5" name="מחבר: מעוקל 4">
            <a:extLst>
              <a:ext uri="{FF2B5EF4-FFF2-40B4-BE49-F238E27FC236}">
                <a16:creationId xmlns:a16="http://schemas.microsoft.com/office/drawing/2014/main" id="{24D8F0BD-071D-FFFB-971F-270A8C8BB464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 flipH="1" flipV="1">
            <a:off x="6645407" y="3591742"/>
            <a:ext cx="1141076" cy="2440117"/>
          </a:xfrm>
          <a:prstGeom prst="curvedConnector4">
            <a:avLst>
              <a:gd name="adj1" fmla="val 36836"/>
              <a:gd name="adj2" fmla="val 100126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07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C055-9864-FA29-DF13-9FB3183D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436AEBE7-54BD-06CE-9F47-31E847698750}"/>
              </a:ext>
            </a:extLst>
          </p:cNvPr>
          <p:cNvSpPr/>
          <p:nvPr/>
        </p:nvSpPr>
        <p:spPr>
          <a:xfrm>
            <a:off x="1365426" y="4837048"/>
            <a:ext cx="946114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גלגל הצלה – </a:t>
            </a:r>
            <a:r>
              <a:rPr lang="he-IL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גגל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בגוגל 20 שניות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CBA80DD-9396-6602-8541-D6A63E12F27A}"/>
              </a:ext>
            </a:extLst>
          </p:cNvPr>
          <p:cNvSpPr/>
          <p:nvPr/>
        </p:nvSpPr>
        <p:spPr>
          <a:xfrm>
            <a:off x="255492" y="5520127"/>
            <a:ext cx="11681011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כשהתלמיד מוכן עם הגוגל, עליכם ללחוץ על "טיימר 20 שניות", ויפתח טיימר הסופר לאחור למטה.</a:t>
            </a:r>
            <a:br>
              <a:rPr lang="en-US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בסיום 20 השניות, על התלמידים להפסיק לגלול ולתת תשובה.</a:t>
            </a:r>
            <a:br>
              <a:rPr lang="en-US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לכל קבוצה יש שימוש אחד בלבד בגלגל זה, ניתן לשימוש רק בשאלות רגילות</a:t>
            </a:r>
            <a:endParaRPr lang="he-IL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7" name="תמונה 6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ACF9976-E9AD-F08A-837B-0848710730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22" r="1066" b="7991"/>
          <a:stretch>
            <a:fillRect/>
          </a:stretch>
        </p:blipFill>
        <p:spPr>
          <a:xfrm>
            <a:off x="962585" y="278857"/>
            <a:ext cx="10266830" cy="4558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C011A3D0-D84E-E901-84DD-D3A5B61017CF}"/>
              </a:ext>
            </a:extLst>
          </p:cNvPr>
          <p:cNvSpPr/>
          <p:nvPr/>
        </p:nvSpPr>
        <p:spPr>
          <a:xfrm>
            <a:off x="6969211" y="3138616"/>
            <a:ext cx="970005" cy="339810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11" name="מחבר: מעוקל 10">
            <a:extLst>
              <a:ext uri="{FF2B5EF4-FFF2-40B4-BE49-F238E27FC236}">
                <a16:creationId xmlns:a16="http://schemas.microsoft.com/office/drawing/2014/main" id="{AF180115-1C02-E3B0-9E6F-694B0A6FFEC7}"/>
              </a:ext>
            </a:extLst>
          </p:cNvPr>
          <p:cNvCxnSpPr>
            <a:stCxn id="7" idx="2"/>
          </p:cNvCxnSpPr>
          <p:nvPr/>
        </p:nvCxnSpPr>
        <p:spPr>
          <a:xfrm rot="5400000" flipH="1" flipV="1">
            <a:off x="6084344" y="3564152"/>
            <a:ext cx="1284551" cy="1261241"/>
          </a:xfrm>
          <a:prstGeom prst="curvedConnector3">
            <a:avLst>
              <a:gd name="adj1" fmla="val 48479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37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9390-C3B8-BE5A-C815-4E8E2025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22885273-9A9D-6373-247A-1F1D520A985E}"/>
              </a:ext>
            </a:extLst>
          </p:cNvPr>
          <p:cNvSpPr/>
          <p:nvPr/>
        </p:nvSpPr>
        <p:spPr>
          <a:xfrm>
            <a:off x="738135" y="4799490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שגוי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02E957A-ECDC-67D5-8B41-7787A04A24BA}"/>
              </a:ext>
            </a:extLst>
          </p:cNvPr>
          <p:cNvSpPr/>
          <p:nvPr/>
        </p:nvSpPr>
        <p:spPr>
          <a:xfrm>
            <a:off x="255494" y="5477561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אם התלמידים ענו תשובה לא נכונה, תקפוץ הודעה שתגיד שזו התשובה הלא נכונה. זה קורה על מנת שגם אם לא ידעו - התלמידים ילמדו משהו חדש</a:t>
            </a:r>
            <a:b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פה לדוגמה, התלמידים בחרו בתשובה יצחק אבינו</a:t>
            </a: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C3BE7CD-617C-A70F-8257-0B621596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73" r="1250" b="11313"/>
          <a:stretch>
            <a:fillRect/>
          </a:stretch>
        </p:blipFill>
        <p:spPr>
          <a:xfrm>
            <a:off x="637309" y="234038"/>
            <a:ext cx="10917382" cy="4565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F4127562-9587-621E-1C3D-DC2A741DB1BA}"/>
              </a:ext>
            </a:extLst>
          </p:cNvPr>
          <p:cNvSpPr/>
          <p:nvPr/>
        </p:nvSpPr>
        <p:spPr>
          <a:xfrm>
            <a:off x="7215950" y="3167654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BF2D90DC-EC08-24EC-2F17-65296D8FA58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85967" y="4045794"/>
            <a:ext cx="1475967" cy="44994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16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A8038-D2A9-5B10-48CE-F645A273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1796C710-4AFC-26EC-C1F8-007DF5C6751E}"/>
              </a:ext>
            </a:extLst>
          </p:cNvPr>
          <p:cNvSpPr/>
          <p:nvPr/>
        </p:nvSpPr>
        <p:spPr>
          <a:xfrm>
            <a:off x="738132" y="4881258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שגוי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 – מה עושים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81E0319-BCCB-C438-1A91-913D25119382}"/>
              </a:ext>
            </a:extLst>
          </p:cNvPr>
          <p:cNvSpPr/>
          <p:nvPr/>
        </p:nvSpPr>
        <p:spPr>
          <a:xfrm>
            <a:off x="255494" y="5650699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במקרה כזה עליכם ללחוץ על "המשך" למטה, השאלה תיעלם לבחירה בלוח והקבוצה לא תקבל את הנקודות. </a:t>
            </a:r>
            <a:b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שימו לב – אל תלחצו בשלב זה על "סגור" , כי אז השאלה לא תסומן </a:t>
            </a:r>
            <a:r>
              <a:rPr lang="he-IL" sz="2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כנעשתה</a:t>
            </a:r>
            <a: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A12A474-4E95-222C-D8B6-5296B7010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73" r="1250" b="11313"/>
          <a:stretch>
            <a:fillRect/>
          </a:stretch>
        </p:blipFill>
        <p:spPr>
          <a:xfrm>
            <a:off x="637309" y="234038"/>
            <a:ext cx="10917382" cy="4565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050A9859-08C9-8C0A-533A-469E0B52D7EF}"/>
              </a:ext>
            </a:extLst>
          </p:cNvPr>
          <p:cNvSpPr/>
          <p:nvPr/>
        </p:nvSpPr>
        <p:spPr>
          <a:xfrm>
            <a:off x="6703684" y="3926990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5A55F327-300E-6BA7-666D-9CD9C740E94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16000" y="4399198"/>
            <a:ext cx="1276813" cy="122618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73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B063-3494-9C56-7974-F3D5056D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90F08B0-B45D-7A84-CD25-1B2FDBD9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17" r="1215" b="5882"/>
          <a:stretch>
            <a:fillRect/>
          </a:stretch>
        </p:blipFill>
        <p:spPr>
          <a:xfrm>
            <a:off x="1246337" y="458421"/>
            <a:ext cx="9699315" cy="4418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17CD5A7B-F03E-71A0-8075-FEC354194ADD}"/>
              </a:ext>
            </a:extLst>
          </p:cNvPr>
          <p:cNvSpPr/>
          <p:nvPr/>
        </p:nvSpPr>
        <p:spPr>
          <a:xfrm>
            <a:off x="738130" y="497960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נכון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2A4A40C-F80C-B4CE-7FD8-C25FD13DA7BA}"/>
              </a:ext>
            </a:extLst>
          </p:cNvPr>
          <p:cNvSpPr/>
          <p:nvPr/>
        </p:nvSpPr>
        <p:spPr>
          <a:xfrm>
            <a:off x="255490" y="571470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לעומת זאת אם התלמידים ענו נכון על השאלה ולחצו על אברהם אבינו, השאלה תיסגר והניקוד יתווסף אוטומטית לקבוצה שהגיע התור שלה.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45B7B349-52FA-349B-A104-7AFCECEE8B36}"/>
              </a:ext>
            </a:extLst>
          </p:cNvPr>
          <p:cNvSpPr/>
          <p:nvPr/>
        </p:nvSpPr>
        <p:spPr>
          <a:xfrm>
            <a:off x="6442427" y="2439328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3" name="מחבר: מעוקל 2">
            <a:extLst>
              <a:ext uri="{FF2B5EF4-FFF2-40B4-BE49-F238E27FC236}">
                <a16:creationId xmlns:a16="http://schemas.microsoft.com/office/drawing/2014/main" id="{CA4C9CD0-6058-076C-FB6E-13A9C2AE57DC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32106" y="3718664"/>
            <a:ext cx="2213657" cy="513937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147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6339-00F0-3546-820B-9512D64B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4FCAD4F5-CB09-9AB7-F1DC-C3B345C5A6CA}"/>
              </a:ext>
            </a:extLst>
          </p:cNvPr>
          <p:cNvSpPr/>
          <p:nvPr/>
        </p:nvSpPr>
        <p:spPr>
          <a:xfrm>
            <a:off x="738130" y="497960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נכון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875FAE9-677F-DDA7-9C50-C468955D812F}"/>
              </a:ext>
            </a:extLst>
          </p:cNvPr>
          <p:cNvSpPr/>
          <p:nvPr/>
        </p:nvSpPr>
        <p:spPr>
          <a:xfrm>
            <a:off x="255490" y="571470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כך זה נראה. אפשר לראות שקבוצה 1 קיבלה 10 נקודות על השאלה, והתשובה בלוח מסומנת בצבע הקבוצה – כחול. בשלב זה התור עבר לקבוצה 2.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8" name="תמונה 7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BAB9D4A-9464-E444-20B7-4D480271F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54" t="22223" r="7935" b="8599"/>
          <a:stretch>
            <a:fillRect/>
          </a:stretch>
        </p:blipFill>
        <p:spPr>
          <a:xfrm>
            <a:off x="1097929" y="346054"/>
            <a:ext cx="9996131" cy="4522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DCB1BA96-B4EB-1A5D-0376-42A37DC83384}"/>
              </a:ext>
            </a:extLst>
          </p:cNvPr>
          <p:cNvSpPr/>
          <p:nvPr/>
        </p:nvSpPr>
        <p:spPr>
          <a:xfrm>
            <a:off x="9723665" y="1047403"/>
            <a:ext cx="1325492" cy="365127"/>
          </a:xfrm>
          <a:prstGeom prst="donut">
            <a:avLst>
              <a:gd name="adj" fmla="val 6656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0" name="מעגל: חלול 9">
            <a:extLst>
              <a:ext uri="{FF2B5EF4-FFF2-40B4-BE49-F238E27FC236}">
                <a16:creationId xmlns:a16="http://schemas.microsoft.com/office/drawing/2014/main" id="{29AD1810-361D-3F0E-79A0-B8702BD3D501}"/>
              </a:ext>
            </a:extLst>
          </p:cNvPr>
          <p:cNvSpPr/>
          <p:nvPr/>
        </p:nvSpPr>
        <p:spPr>
          <a:xfrm>
            <a:off x="6927396" y="869496"/>
            <a:ext cx="1563461" cy="771525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074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F8D3-1E52-38E0-CFF2-5CCB4FCA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E6279971-524A-2E73-3FEF-6BE18EF688BB}"/>
              </a:ext>
            </a:extLst>
          </p:cNvPr>
          <p:cNvSpPr/>
          <p:nvPr/>
        </p:nvSpPr>
        <p:spPr>
          <a:xfrm>
            <a:off x="738125" y="4848795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שאלה פתוחה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2D2519B-BA79-FB06-4B1D-6E5CDEE2D2BB}"/>
              </a:ext>
            </a:extLst>
          </p:cNvPr>
          <p:cNvSpPr/>
          <p:nvPr/>
        </p:nvSpPr>
        <p:spPr>
          <a:xfrm>
            <a:off x="255485" y="5618236"/>
            <a:ext cx="1168101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גם כאן כשהשאלה מוצגת בפני הכיתה, הם יכולים לענות את התשובה או להיעזר באחד מגלגלי ההצלה. </a:t>
            </a:r>
          </a:p>
        </p:txBody>
      </p:sp>
      <p:pic>
        <p:nvPicPr>
          <p:cNvPr id="3" name="תמונה 2" descr="תמונה שמכילה טקסט, תוכנה, צילום מסך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0E4392D-7470-A3FE-30D4-CA4A05674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74" r="1333" b="8296"/>
          <a:stretch>
            <a:fillRect/>
          </a:stretch>
        </p:blipFill>
        <p:spPr>
          <a:xfrm>
            <a:off x="1320792" y="429738"/>
            <a:ext cx="9550400" cy="422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0557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77B0-6200-407D-75F2-76636D85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35C1B827-E763-CF91-884A-E29CC006BA0B}"/>
              </a:ext>
            </a:extLst>
          </p:cNvPr>
          <p:cNvSpPr/>
          <p:nvPr/>
        </p:nvSpPr>
        <p:spPr>
          <a:xfrm>
            <a:off x="738125" y="4848795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שאלה פתוחה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7506D331-AA9C-7899-39CB-43275E301864}"/>
              </a:ext>
            </a:extLst>
          </p:cNvPr>
          <p:cNvSpPr/>
          <p:nvPr/>
        </p:nvSpPr>
        <p:spPr>
          <a:xfrm>
            <a:off x="1" y="5618236"/>
            <a:ext cx="1219200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כאן לעומת זאת לאחר המענה, הבחירה היא שלכם האם הם צדקו או לא, ועליכם ללחוץ למטה האם לתת נקודות לקבוצה או לא לתת נקודות</a:t>
            </a:r>
            <a:b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אם אתם לא זוכרים את התשובה, או שאתם רוצים שהתלמידים יגלו על הלוח אם הם צדקו- לחצו על הצג תשובה</a:t>
            </a:r>
            <a:endParaRPr lang="he-IL" sz="2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תוכנה, צילום מסך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DD8BFE2-E7AA-89EF-5C95-D1F87AF7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74" r="1333" b="8296"/>
          <a:stretch>
            <a:fillRect/>
          </a:stretch>
        </p:blipFill>
        <p:spPr>
          <a:xfrm>
            <a:off x="1320792" y="429738"/>
            <a:ext cx="9550400" cy="422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ED0C3A38-3552-41F7-0EA7-F7A1471FC63D}"/>
              </a:ext>
            </a:extLst>
          </p:cNvPr>
          <p:cNvSpPr/>
          <p:nvPr/>
        </p:nvSpPr>
        <p:spPr>
          <a:xfrm>
            <a:off x="6398884" y="3924766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4" name="מחבר: מעוקל 3">
            <a:extLst>
              <a:ext uri="{FF2B5EF4-FFF2-40B4-BE49-F238E27FC236}">
                <a16:creationId xmlns:a16="http://schemas.microsoft.com/office/drawing/2014/main" id="{5BFAC8C5-EA37-2CF0-F9FD-AF5E1F2F941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011200" y="4396974"/>
            <a:ext cx="1276813" cy="122618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1A083F0B-980E-9B74-BFCF-AE6DCA1ED2B4}"/>
              </a:ext>
            </a:extLst>
          </p:cNvPr>
          <p:cNvSpPr/>
          <p:nvPr/>
        </p:nvSpPr>
        <p:spPr>
          <a:xfrm>
            <a:off x="3133433" y="3570237"/>
            <a:ext cx="838673" cy="440989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10" name="מחבר: מעוקל 9">
            <a:extLst>
              <a:ext uri="{FF2B5EF4-FFF2-40B4-BE49-F238E27FC236}">
                <a16:creationId xmlns:a16="http://schemas.microsoft.com/office/drawing/2014/main" id="{D6095AD9-A345-2C30-40D6-D93A78E1AE4B}"/>
              </a:ext>
            </a:extLst>
          </p:cNvPr>
          <p:cNvCxnSpPr>
            <a:cxnSpLocks/>
          </p:cNvCxnSpPr>
          <p:nvPr/>
        </p:nvCxnSpPr>
        <p:spPr>
          <a:xfrm flipV="1">
            <a:off x="582649" y="3790731"/>
            <a:ext cx="2550784" cy="248225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52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6192-154D-F279-6043-7074780D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1ABDE428-6A99-3984-BAE9-B26A369BDD74}"/>
              </a:ext>
            </a:extLst>
          </p:cNvPr>
          <p:cNvSpPr/>
          <p:nvPr/>
        </p:nvSpPr>
        <p:spPr>
          <a:xfrm>
            <a:off x="738130" y="497960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נכון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3BAF556-B3C9-9051-EF72-17D88334F84A}"/>
              </a:ext>
            </a:extLst>
          </p:cNvPr>
          <p:cNvSpPr/>
          <p:nvPr/>
        </p:nvSpPr>
        <p:spPr>
          <a:xfrm>
            <a:off x="255490" y="5714707"/>
            <a:ext cx="1168101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גם כאן הניקוד יתווסף בצד ימין והצבע על הלוח יצבע בצבע הקבוצה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DB231D6-1DE6-9E24-B529-5A448FCF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50" r="1129" b="5950"/>
          <a:stretch>
            <a:fillRect/>
          </a:stretch>
        </p:blipFill>
        <p:spPr>
          <a:xfrm>
            <a:off x="1234162" y="402681"/>
            <a:ext cx="9723665" cy="4425617"/>
          </a:xfrm>
          <a:prstGeom prst="rect">
            <a:avLst/>
          </a:prstGeom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91E00470-CFE5-7ED8-3FA6-F49A8F63620D}"/>
              </a:ext>
            </a:extLst>
          </p:cNvPr>
          <p:cNvSpPr/>
          <p:nvPr/>
        </p:nvSpPr>
        <p:spPr>
          <a:xfrm>
            <a:off x="3854244" y="1789471"/>
            <a:ext cx="1288728" cy="564389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5" name="מעגל: חלול 4">
            <a:extLst>
              <a:ext uri="{FF2B5EF4-FFF2-40B4-BE49-F238E27FC236}">
                <a16:creationId xmlns:a16="http://schemas.microsoft.com/office/drawing/2014/main" id="{5A0A402A-66EB-2B7A-1890-883EBCADCD60}"/>
              </a:ext>
            </a:extLst>
          </p:cNvPr>
          <p:cNvSpPr/>
          <p:nvPr/>
        </p:nvSpPr>
        <p:spPr>
          <a:xfrm>
            <a:off x="8921205" y="1789471"/>
            <a:ext cx="1288728" cy="282194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797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880B-4BCD-26EF-B143-01A0C87C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E2231E6B-8EBE-E42D-2801-0B12895C592D}"/>
              </a:ext>
            </a:extLst>
          </p:cNvPr>
          <p:cNvSpPr/>
          <p:nvPr/>
        </p:nvSpPr>
        <p:spPr>
          <a:xfrm>
            <a:off x="-71119" y="4848795"/>
            <a:ext cx="122631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שאלה פתוחה עם שמע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2A970BA-7FA6-4C93-391B-5508283B4537}"/>
              </a:ext>
            </a:extLst>
          </p:cNvPr>
          <p:cNvSpPr/>
          <p:nvPr/>
        </p:nvSpPr>
        <p:spPr>
          <a:xfrm>
            <a:off x="255485" y="5618236"/>
            <a:ext cx="1168101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זו לדוגמה, עובדת בדיוק כמו שאלה פתוחה רגילה, רק שכאן עליכם להפעיל בצד את השמע, ולפיו התלמידים עונים על השאלה.</a:t>
            </a:r>
          </a:p>
        </p:txBody>
      </p:sp>
      <p:pic>
        <p:nvPicPr>
          <p:cNvPr id="4" name="תמונה 3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C04EB32-9AE0-F915-C901-54362BB80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20" r="1166" b="5960"/>
          <a:stretch>
            <a:fillRect/>
          </a:stretch>
        </p:blipFill>
        <p:spPr>
          <a:xfrm>
            <a:off x="1381750" y="497841"/>
            <a:ext cx="9428480" cy="4267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2233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F39A-6FF6-D0FB-2BDD-85C32A95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B984B1B0-C91D-CAC5-90FA-8375F7B47F25}"/>
              </a:ext>
            </a:extLst>
          </p:cNvPr>
          <p:cNvSpPr/>
          <p:nvPr/>
        </p:nvSpPr>
        <p:spPr>
          <a:xfrm>
            <a:off x="738124" y="4353447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שאלת דו - קרב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C1258DD-81F9-8655-4A1B-2BC2EB815371}"/>
              </a:ext>
            </a:extLst>
          </p:cNvPr>
          <p:cNvSpPr/>
          <p:nvPr/>
        </p:nvSpPr>
        <p:spPr>
          <a:xfrm>
            <a:off x="255484" y="5184444"/>
            <a:ext cx="1168101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ברגע שהתלמידים לוחצים על שאלה מסוג "דו-קרב" נפתח המסך הנוכחי.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ברגע שכל הקבוצות ב"היכון" , אפשר ללחוץ על הצג שאלה.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שימו לב </a:t>
            </a: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– לרוב בשאלות דו – קרב צריך עזרים. לכן ברגע שיש שאלה כזו, תדאגו לשים לב שלכל קבוצה כבר יש דף ועט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A56F9FB-37C1-46E1-830F-31A90B579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29" r="1333" b="5482"/>
          <a:stretch>
            <a:fillRect/>
          </a:stretch>
        </p:blipFill>
        <p:spPr>
          <a:xfrm>
            <a:off x="1569709" y="257125"/>
            <a:ext cx="9052565" cy="4174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מעגל: חלול 10">
            <a:extLst>
              <a:ext uri="{FF2B5EF4-FFF2-40B4-BE49-F238E27FC236}">
                <a16:creationId xmlns:a16="http://schemas.microsoft.com/office/drawing/2014/main" id="{3BC2F412-8EF6-F8D3-D02A-1351C9D1251A}"/>
              </a:ext>
            </a:extLst>
          </p:cNvPr>
          <p:cNvSpPr/>
          <p:nvPr/>
        </p:nvSpPr>
        <p:spPr>
          <a:xfrm>
            <a:off x="8016240" y="3768951"/>
            <a:ext cx="650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795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4A23-8010-5D56-572C-25788E19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7DA99147-B2B2-3D71-5184-058E5E6CAC19}"/>
              </a:ext>
            </a:extLst>
          </p:cNvPr>
          <p:cNvSpPr/>
          <p:nvPr/>
        </p:nvSpPr>
        <p:spPr>
          <a:xfrm>
            <a:off x="738126" y="425704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שאלת דו - קרב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354A579-368A-CE53-A5FF-557F786E11BB}"/>
              </a:ext>
            </a:extLst>
          </p:cNvPr>
          <p:cNvSpPr/>
          <p:nvPr/>
        </p:nvSpPr>
        <p:spPr>
          <a:xfrm>
            <a:off x="255486" y="5088037"/>
            <a:ext cx="1168101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ברגע שאמרתם "שלוש ארבע ו-" והשאלה התחילה, לחצו על כפתור "טיימר 60 שניות" והדקה תתחיל להיספר.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בסוף, כשאספתם את הדפים מכולם, תצטרכו לעבור עליהם ולתת לכל קבוצה ניקוד בהתאם לכמות התשובות הנכונות שלה (על כל לחיצה הם יקבלו ניקוד על תשובה נכונה)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1EE0391-FE99-DEFD-B2FE-90D27BEB58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4222" r="917" b="13628"/>
          <a:stretch>
            <a:fillRect/>
          </a:stretch>
        </p:blipFill>
        <p:spPr>
          <a:xfrm>
            <a:off x="1041395" y="189186"/>
            <a:ext cx="9931405" cy="4067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EE056736-E5D4-25C3-EA43-4200B77A373C}"/>
              </a:ext>
            </a:extLst>
          </p:cNvPr>
          <p:cNvSpPr/>
          <p:nvPr/>
        </p:nvSpPr>
        <p:spPr>
          <a:xfrm>
            <a:off x="7254240" y="2271129"/>
            <a:ext cx="904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6BEB3F2B-A32A-5EB3-1079-4C17CA4A94EF}"/>
              </a:ext>
            </a:extLst>
          </p:cNvPr>
          <p:cNvCxnSpPr>
            <a:cxnSpLocks/>
          </p:cNvCxnSpPr>
          <p:nvPr/>
        </p:nvCxnSpPr>
        <p:spPr>
          <a:xfrm flipV="1">
            <a:off x="2479040" y="2479254"/>
            <a:ext cx="4775200" cy="260878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797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259A-BF53-CE5A-DD2F-A98B1C56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19758D81-1CB5-7CF1-7D08-BD2539147657}"/>
              </a:ext>
            </a:extLst>
          </p:cNvPr>
          <p:cNvSpPr/>
          <p:nvPr/>
        </p:nvSpPr>
        <p:spPr>
          <a:xfrm>
            <a:off x="738126" y="425704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שאלת דו - קרב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DA272C8-6F04-EB18-19B2-9C35E9CA38F3}"/>
              </a:ext>
            </a:extLst>
          </p:cNvPr>
          <p:cNvSpPr/>
          <p:nvPr/>
        </p:nvSpPr>
        <p:spPr>
          <a:xfrm>
            <a:off x="255486" y="5088037"/>
            <a:ext cx="1168101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כשסיימתם לתת את הניקוד למטה, לחצו על "סיום מתן ניקוד" והניקוד המעודכן יופיע בלוח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D0AD82-F30A-AA0D-4F54-E709B173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4222" r="917" b="13628"/>
          <a:stretch>
            <a:fillRect/>
          </a:stretch>
        </p:blipFill>
        <p:spPr>
          <a:xfrm>
            <a:off x="1041395" y="189186"/>
            <a:ext cx="9931405" cy="4067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E636AA75-0F6E-A1BE-350E-60ED2D64E8B3}"/>
              </a:ext>
            </a:extLst>
          </p:cNvPr>
          <p:cNvSpPr/>
          <p:nvPr/>
        </p:nvSpPr>
        <p:spPr>
          <a:xfrm>
            <a:off x="6467944" y="2271129"/>
            <a:ext cx="904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ED19C9B4-64F9-9E80-43B7-AD46099CB456}"/>
              </a:ext>
            </a:extLst>
          </p:cNvPr>
          <p:cNvCxnSpPr>
            <a:cxnSpLocks/>
          </p:cNvCxnSpPr>
          <p:nvPr/>
        </p:nvCxnSpPr>
        <p:spPr>
          <a:xfrm flipV="1">
            <a:off x="2447925" y="2479254"/>
            <a:ext cx="4020019" cy="260878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910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71B9-98AB-C159-E08D-9FE1602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17FC85DE-2EAF-1CCB-E201-21A65AEFDA16}"/>
              </a:ext>
            </a:extLst>
          </p:cNvPr>
          <p:cNvSpPr/>
          <p:nvPr/>
        </p:nvSpPr>
        <p:spPr>
          <a:xfrm>
            <a:off x="255494" y="538380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שימו לב שבסוג שאלות כזה המשבצת תיצבע באפור, כיוון שכל אחת מהקבוצות מקבלת ניקוד ולכן אף אחת לא מקבלת צביעה בלוח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8" name="תמונה 7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26E83A5-C0C2-76CE-673E-476CC552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33" r="1000" b="9042"/>
          <a:stretch>
            <a:fillRect/>
          </a:stretch>
        </p:blipFill>
        <p:spPr>
          <a:xfrm>
            <a:off x="902774" y="341692"/>
            <a:ext cx="10792408" cy="4729348"/>
          </a:xfrm>
          <a:prstGeom prst="rect">
            <a:avLst/>
          </a:prstGeom>
        </p:spPr>
      </p:pic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AC673D12-A7AA-9D29-B1E3-2A323307CCF7}"/>
              </a:ext>
            </a:extLst>
          </p:cNvPr>
          <p:cNvSpPr/>
          <p:nvPr/>
        </p:nvSpPr>
        <p:spPr>
          <a:xfrm>
            <a:off x="7100364" y="2424171"/>
            <a:ext cx="1288728" cy="564389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0" name="מעגל: חלול 9">
            <a:extLst>
              <a:ext uri="{FF2B5EF4-FFF2-40B4-BE49-F238E27FC236}">
                <a16:creationId xmlns:a16="http://schemas.microsoft.com/office/drawing/2014/main" id="{7C53CC62-9ADB-C01A-EE67-E95FB027763A}"/>
              </a:ext>
            </a:extLst>
          </p:cNvPr>
          <p:cNvSpPr/>
          <p:nvPr/>
        </p:nvSpPr>
        <p:spPr>
          <a:xfrm>
            <a:off x="9909809" y="1326171"/>
            <a:ext cx="948691" cy="1508469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186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61AC-AEFA-2FE7-AFCD-01B341FF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6E83CD5B-2F28-B622-4EB0-070A1D5965E8}"/>
              </a:ext>
            </a:extLst>
          </p:cNvPr>
          <p:cNvSpPr/>
          <p:nvPr/>
        </p:nvSpPr>
        <p:spPr>
          <a:xfrm>
            <a:off x="738121" y="4595279"/>
            <a:ext cx="1071573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שאלות דו – קרב עם עזרים</a:t>
            </a:r>
            <a:endParaRPr lang="he-IL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3564565-56DD-98F1-7E6A-30342FC8A829}"/>
              </a:ext>
            </a:extLst>
          </p:cNvPr>
          <p:cNvSpPr/>
          <p:nvPr/>
        </p:nvSpPr>
        <p:spPr>
          <a:xfrm>
            <a:off x="255481" y="5381353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בשאלות האלו לדוגמה, כל קבוצה תצטרך לקבל מפה או 2 כרטיסיות, ולכן צריך להיערך מראש עם העזרים לדו-קרב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(3 מפות, 6 כרטיסיות "נכון-לא נכון", ודפים לבנים ריקים)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6FB9527F-E17D-AE0C-5AB0-8D8F81B8160B}"/>
              </a:ext>
            </a:extLst>
          </p:cNvPr>
          <p:cNvSpPr/>
          <p:nvPr/>
        </p:nvSpPr>
        <p:spPr>
          <a:xfrm>
            <a:off x="7254240" y="2271129"/>
            <a:ext cx="904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pic>
        <p:nvPicPr>
          <p:cNvPr id="5" name="תמונה 4" descr="תמונה שמכילה טקסט, צילום מסך, מחשב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464CBAA-7E43-790C-CA50-1414B816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22" t="14334" r="21695" b="5500"/>
          <a:stretch>
            <a:fillRect/>
          </a:stretch>
        </p:blipFill>
        <p:spPr>
          <a:xfrm>
            <a:off x="5875019" y="276318"/>
            <a:ext cx="5314951" cy="4133446"/>
          </a:xfrm>
          <a:prstGeom prst="rect">
            <a:avLst/>
          </a:prstGeom>
        </p:spPr>
      </p:pic>
      <p:pic>
        <p:nvPicPr>
          <p:cNvPr id="10" name="תמונה 9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EC239C-60C8-7562-2DAC-8DE19C0EA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56" t="24501" r="21437" b="9166"/>
          <a:stretch>
            <a:fillRect/>
          </a:stretch>
        </p:blipFill>
        <p:spPr>
          <a:xfrm>
            <a:off x="468630" y="810749"/>
            <a:ext cx="5223510" cy="33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02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3161-50FA-F452-5B34-4C8F828D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0B15FB1D-6466-B31F-E822-F6F7DED8E128}"/>
              </a:ext>
            </a:extLst>
          </p:cNvPr>
          <p:cNvSpPr/>
          <p:nvPr/>
        </p:nvSpPr>
        <p:spPr>
          <a:xfrm>
            <a:off x="335504" y="5185960"/>
            <a:ext cx="11681011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כך נראה לוח טיפוסי בסוף משחק שצדקו בו ברוב התשובות (ככל שיש יותר טעויות – ככה יהיו יותר משבצות אפורות)</a:t>
            </a:r>
            <a:b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בשלב בו סיימנו את המשחק אפשר ללחוץ על "סיום משחק" ולעבור ללוח התוצאות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12" name="תמונה 11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13D604C-CB43-2F4A-EAF3-87D603D67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33" r="1094" b="7584"/>
          <a:stretch>
            <a:fillRect/>
          </a:stretch>
        </p:blipFill>
        <p:spPr>
          <a:xfrm>
            <a:off x="703690" y="297180"/>
            <a:ext cx="10784619" cy="4789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מעגל: חלול 12">
            <a:extLst>
              <a:ext uri="{FF2B5EF4-FFF2-40B4-BE49-F238E27FC236}">
                <a16:creationId xmlns:a16="http://schemas.microsoft.com/office/drawing/2014/main" id="{4F1D39A0-836E-8478-63BA-DF7FA50886D8}"/>
              </a:ext>
            </a:extLst>
          </p:cNvPr>
          <p:cNvSpPr/>
          <p:nvPr/>
        </p:nvSpPr>
        <p:spPr>
          <a:xfrm>
            <a:off x="1371600" y="287045"/>
            <a:ext cx="963402" cy="474914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165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F36B-F448-D04E-91F2-E10A4163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980C1D06-9C1B-09C4-01BF-91B7EFE4455D}"/>
              </a:ext>
            </a:extLst>
          </p:cNvPr>
          <p:cNvSpPr/>
          <p:nvPr/>
        </p:nvSpPr>
        <p:spPr>
          <a:xfrm>
            <a:off x="335504" y="5185960"/>
            <a:ext cx="1168101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וזהו, כאן מופיע ניקוד הקבוצות. ניתן ללחוץ על "איפוס משחק" בשלב זה.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5BE6100-C690-2CFD-2BA1-EF1F9EAD0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66" r="1439" b="6167"/>
          <a:stretch>
            <a:fillRect/>
          </a:stretch>
        </p:blipFill>
        <p:spPr>
          <a:xfrm>
            <a:off x="922020" y="377190"/>
            <a:ext cx="9898380" cy="4500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56919D2B-CFDC-99F6-3CB5-840B10D58DCF}"/>
              </a:ext>
            </a:extLst>
          </p:cNvPr>
          <p:cNvSpPr/>
          <p:nvPr/>
        </p:nvSpPr>
        <p:spPr>
          <a:xfrm>
            <a:off x="889899" y="387342"/>
            <a:ext cx="836031" cy="378468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7EB47ED-B164-FD0A-7708-9843371371D3}"/>
              </a:ext>
            </a:extLst>
          </p:cNvPr>
          <p:cNvSpPr/>
          <p:nvPr/>
        </p:nvSpPr>
        <p:spPr>
          <a:xfrm>
            <a:off x="255494" y="5709180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מומלץ מאוד להיכנס ולנסות לענות על כל השאלות בעצמכם, כדי שתכירו את </a:t>
            </a:r>
            <a:r>
              <a:rPr lang="he-IL" sz="2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הכל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לפני המשחק. בהצלחה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  <a:sym typeface="Wingdings" panose="05000000000000000000" pitchFamily="2" charset="2"/>
              </a:rPr>
              <a:t>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11742658"/>
      </p:ext>
    </p:extLst>
  </p:cSld>
  <p:clrMapOvr>
    <a:masterClrMapping/>
  </p:clrMapOvr>
</p:sld>
</file>

<file path=ppt/theme/theme1.xml><?xml version="1.0" encoding="utf-8"?>
<a:theme xmlns:a="http://schemas.openxmlformats.org/drawingml/2006/main" name="פרוסה">
  <a:themeElements>
    <a:clrScheme name="התאמה אישית 1">
      <a:dk1>
        <a:sysClr val="windowText" lastClr="000000"/>
      </a:dk1>
      <a:lt1>
        <a:sysClr val="window" lastClr="FFFFFF"/>
      </a:lt1>
      <a:dk2>
        <a:srgbClr val="86C5EE"/>
      </a:dk2>
      <a:lt2>
        <a:srgbClr val="C2E2F6"/>
      </a:lt2>
      <a:accent1>
        <a:srgbClr val="052F61"/>
      </a:accent1>
      <a:accent2>
        <a:srgbClr val="0F486F"/>
      </a:accent2>
      <a:accent3>
        <a:srgbClr val="09304A"/>
      </a:accent3>
      <a:accent4>
        <a:srgbClr val="356A95"/>
      </a:accent4>
      <a:accent5>
        <a:srgbClr val="22C4ED"/>
      </a:accent5>
      <a:accent6>
        <a:srgbClr val="4A9FDD"/>
      </a:accent6>
      <a:hlink>
        <a:srgbClr val="0D2E46"/>
      </a:hlink>
      <a:folHlink>
        <a:srgbClr val="356A95"/>
      </a:folHlink>
    </a:clrScheme>
    <a:fontScheme name="פרוסה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פרוסה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TM02900771[[fn=פרוסה]]</Template>
  <TotalTime>334</TotalTime>
  <Words>971</Words>
  <Application>Microsoft Office PowerPoint</Application>
  <PresentationFormat>מסך רחב</PresentationFormat>
  <Paragraphs>65</Paragraphs>
  <Slides>30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30</vt:i4>
      </vt:variant>
    </vt:vector>
  </HeadingPairs>
  <TitlesOfParts>
    <vt:vector size="36" baseType="lpstr">
      <vt:lpstr>Abraham</vt:lpstr>
      <vt:lpstr>ADLaM Display</vt:lpstr>
      <vt:lpstr>Aptos</vt:lpstr>
      <vt:lpstr>Century Gothic</vt:lpstr>
      <vt:lpstr>Wingdings 3</vt:lpstr>
      <vt:lpstr>פרוסה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ליאור טלמן</dc:creator>
  <cp:lastModifiedBy>ליאור טלמן</cp:lastModifiedBy>
  <cp:revision>10</cp:revision>
  <dcterms:created xsi:type="dcterms:W3CDTF">2026-01-07T08:43:31Z</dcterms:created>
  <dcterms:modified xsi:type="dcterms:W3CDTF">2026-01-07T14:40:10Z</dcterms:modified>
</cp:coreProperties>
</file>